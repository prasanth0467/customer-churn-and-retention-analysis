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1"/>
  </p:notesMasterIdLst>
  <p:sldIdLst>
    <p:sldId id="256" r:id="rId2"/>
    <p:sldId id="257" r:id="rId3"/>
    <p:sldId id="259" r:id="rId4"/>
    <p:sldId id="258" r:id="rId5"/>
    <p:sldId id="260" r:id="rId6"/>
    <p:sldId id="261" r:id="rId7"/>
    <p:sldId id="268" r:id="rId8"/>
    <p:sldId id="269" r:id="rId9"/>
    <p:sldId id="262" r:id="rId10"/>
    <p:sldId id="263" r:id="rId11"/>
    <p:sldId id="270" r:id="rId12"/>
    <p:sldId id="271" r:id="rId13"/>
    <p:sldId id="272" r:id="rId14"/>
    <p:sldId id="264" r:id="rId15"/>
    <p:sldId id="265" r:id="rId16"/>
    <p:sldId id="273" r:id="rId17"/>
    <p:sldId id="266" r:id="rId18"/>
    <p:sldId id="267" r:id="rId19"/>
    <p:sldId id="274" r:id="rId20"/>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97" autoAdjust="0"/>
  </p:normalViewPr>
  <p:slideViewPr>
    <p:cSldViewPr snapToGrid="0">
      <p:cViewPr varScale="1">
        <p:scale>
          <a:sx n="83" d="100"/>
          <a:sy n="83" d="100"/>
        </p:scale>
        <p:origin x="686" y="7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9851720-B43E-45DB-8327-0E806F987BBB}" type="datetimeFigureOut">
              <a:rPr lang="en-IN" smtClean="0"/>
              <a:t>12-12-2025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D31E59D-D5CF-459F-8ECB-0DD29E09E706}" type="slidenum">
              <a:rPr lang="en-IN" smtClean="0"/>
              <a:t>‹#›</a:t>
            </a:fld>
            <a:endParaRPr lang="en-IN"/>
          </a:p>
        </p:txBody>
      </p:sp>
    </p:spTree>
    <p:extLst>
      <p:ext uri="{BB962C8B-B14F-4D97-AF65-F5344CB8AC3E}">
        <p14:creationId xmlns:p14="http://schemas.microsoft.com/office/powerpoint/2010/main" val="40051137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9" name="Rectangle 8"/>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ctrTitle"/>
          </p:nvPr>
        </p:nvSpPr>
        <p:spPr>
          <a:xfrm>
            <a:off x="1154955" y="2099733"/>
            <a:ext cx="8825658" cy="2677648"/>
          </a:xfrm>
        </p:spPr>
        <p:txBody>
          <a:bodyPr anchor="b"/>
          <a:lstStyle>
            <a:lvl1pPr>
              <a:defRPr sz="5400"/>
            </a:lvl1pPr>
          </a:lstStyle>
          <a:p>
            <a:r>
              <a:rPr lang="en-US"/>
              <a:t>Click to edit Master title style</a:t>
            </a:r>
            <a:endParaRPr lang="en-US" dirty="0"/>
          </a:p>
        </p:txBody>
      </p:sp>
      <p:sp>
        <p:nvSpPr>
          <p:cNvPr id="3" name="Subtitle 2"/>
          <p:cNvSpPr>
            <a:spLocks noGrp="1"/>
          </p:cNvSpPr>
          <p:nvPr>
            <p:ph type="subTitle" idx="1"/>
          </p:nvPr>
        </p:nvSpPr>
        <p:spPr bwMode="gray">
          <a:xfrm>
            <a:off x="1154955" y="4777380"/>
            <a:ext cx="8825658" cy="861420"/>
          </a:xfrm>
        </p:spPr>
        <p:txBody>
          <a:bodyPr anchor="t"/>
          <a:lstStyle>
            <a:lvl1pPr marL="0" indent="0" algn="l">
              <a:buNone/>
              <a:defRPr cap="all">
                <a:solidFill>
                  <a:schemeClr val="accent1">
                    <a:lumMod val="60000"/>
                    <a:lumOff val="4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bwMode="gray">
          <a:xfrm rot="5400000">
            <a:off x="10158984" y="1792224"/>
            <a:ext cx="990599" cy="304799"/>
          </a:xfrm>
        </p:spPr>
        <p:txBody>
          <a:bodyPr anchor="t"/>
          <a:lstStyle>
            <a:lvl1pPr algn="l">
              <a:defRPr b="0" i="0">
                <a:solidFill>
                  <a:schemeClr val="bg1">
                    <a:alpha val="60000"/>
                  </a:schemeClr>
                </a:solidFill>
              </a:defRPr>
            </a:lvl1p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bwMode="gray">
          <a:xfrm rot="5400000">
            <a:off x="8951976" y="3227832"/>
            <a:ext cx="3859795" cy="304801"/>
          </a:xfrm>
        </p:spPr>
        <p:txBody>
          <a:bodyPr/>
          <a:lstStyle>
            <a:lvl1pPr>
              <a:defRPr b="0" i="0">
                <a:solidFill>
                  <a:schemeClr val="bg1">
                    <a:alpha val="60000"/>
                  </a:schemeClr>
                </a:solidFill>
              </a:defRPr>
            </a:lvl1pPr>
          </a:lstStyle>
          <a:p>
            <a:endParaRPr lang="en-IN"/>
          </a:p>
        </p:txBody>
      </p:sp>
      <p:sp>
        <p:nvSpPr>
          <p:cNvPr id="11" name="Rectangle 1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12" name="Slide Number Placeholder 5"/>
          <p:cNvSpPr>
            <a:spLocks noGrp="1"/>
          </p:cNvSpPr>
          <p:nvPr>
            <p:ph type="sldNum" sz="quarter" idx="12"/>
          </p:nvPr>
        </p:nvSpPr>
        <p:spPr>
          <a:xfrm>
            <a:off x="10352540" y="295729"/>
            <a:ext cx="838199" cy="767687"/>
          </a:xfrm>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23527515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a:xfrm>
            <a:off x="1154954" y="2603500"/>
            <a:ext cx="8825659" cy="3416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2716186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0" name="Rectangle 9"/>
            <p:cNvSpPr/>
            <p:nvPr/>
          </p:nvSpPr>
          <p:spPr bwMode="gray">
            <a:xfrm>
              <a:off x="7289800" y="402165"/>
              <a:ext cx="44788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1" name="Freeform 5"/>
            <p:cNvSpPr/>
            <p:nvPr/>
          </p:nvSpPr>
          <p:spPr bwMode="gray">
            <a:xfrm rot="16200000">
              <a:off x="3787244"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p:nvPr/>
          </p:nvSpPr>
          <p:spPr bwMode="gray">
            <a:xfrm rot="15922489">
              <a:off x="4698352"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677645"/>
            <a:ext cx="4351025" cy="2283824"/>
          </a:xfrm>
        </p:spPr>
        <p:txBody>
          <a:bodyPr anchor="ctr"/>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895559" y="2677644"/>
            <a:ext cx="3757545" cy="2283824"/>
          </a:xfrm>
        </p:spPr>
        <p:txBody>
          <a:bodyPr anchor="ctr"/>
          <a:lstStyle>
            <a:lvl1pPr marL="0" indent="0" algn="l">
              <a:buNone/>
              <a:defRPr sz="2000" cap="all">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280330424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54954" y="2603500"/>
            <a:ext cx="4825158" cy="34163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208712" y="2603500"/>
            <a:ext cx="4825159" cy="34163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E8CEA68-06A2-47B9-94D1-AAE373D38C43}"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38301723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54954" y="2603500"/>
            <a:ext cx="4825157"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54954" y="3179762"/>
            <a:ext cx="4825158" cy="2840039"/>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208712" y="2603500"/>
            <a:ext cx="4825159" cy="576262"/>
          </a:xfrm>
        </p:spPr>
        <p:txBody>
          <a:bodyPr anchor="b">
            <a:noAutofit/>
          </a:bodyPr>
          <a:lstStyle>
            <a:lvl1pPr marL="0" indent="0">
              <a:buNone/>
              <a:defRPr sz="24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08712" y="3179762"/>
            <a:ext cx="4825159" cy="2840039"/>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E8CEA68-06A2-47B9-94D1-AAE373D38C43}" type="datetimeFigureOut">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2700681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9" name="Title 1"/>
          <p:cNvSpPr>
            <a:spLocks noGrp="1"/>
          </p:cNvSpPr>
          <p:nvPr>
            <p:ph type="title"/>
          </p:nvPr>
        </p:nvSpPr>
        <p:spPr>
          <a:xfrm>
            <a:off x="1154954" y="973668"/>
            <a:ext cx="8761413" cy="706964"/>
          </a:xfrm>
        </p:spPr>
        <p:txBody>
          <a:bodyPr/>
          <a:lstStyle>
            <a:lvl1pPr>
              <a:defRPr/>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E8CEA68-06A2-47B9-94D1-AAE373D38C43}" type="datetimeFigureOut">
              <a:rPr lang="en-IN" smtClean="0"/>
              <a:t>12-12-2025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16386671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E8CEA68-06A2-47B9-94D1-AAE373D38C43}" type="datetimeFigureOut">
              <a:rPr lang="en-IN" smtClean="0"/>
              <a:t>12-12-2025</a:t>
            </a:fld>
            <a:endParaRPr lang="en-IN"/>
          </a:p>
        </p:txBody>
      </p:sp>
      <p:sp>
        <p:nvSpPr>
          <p:cNvPr id="3" name="Footer Placeholder 2"/>
          <p:cNvSpPr>
            <a:spLocks noGrp="1"/>
          </p:cNvSpPr>
          <p:nvPr>
            <p:ph type="ftr" sz="quarter" idx="11"/>
          </p:nvPr>
        </p:nvSpPr>
        <p:spPr/>
        <p:txBody>
          <a:bodyPr/>
          <a:lstStyle/>
          <a:p>
            <a:endParaRPr lang="en-IN"/>
          </a:p>
        </p:txBody>
      </p:sp>
      <p:sp>
        <p:nvSpPr>
          <p:cNvPr id="7" name="Rectangle 6"/>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4" name="Slide Number Placeholder 3"/>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141115726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5713412" y="402165"/>
              <a:ext cx="6055253"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8" name="Freeform 5"/>
            <p:cNvSpPr/>
            <p:nvPr/>
          </p:nvSpPr>
          <p:spPr bwMode="gray">
            <a:xfrm rot="15922489">
              <a:off x="3140485"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2229377"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295400"/>
            <a:ext cx="2793158" cy="16002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5781146" y="1447800"/>
            <a:ext cx="5190066" cy="45720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bwMode="gray">
          <a:xfrm>
            <a:off x="1154954" y="3129280"/>
            <a:ext cx="2793158" cy="2895599"/>
          </a:xfrm>
        </p:spPr>
        <p:txBody>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8CEA68-06A2-47B9-94D1-AAE373D38C43}"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410836482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4" name="Rectangle 13"/>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1" name="Rectangle 10"/>
            <p:cNvSpPr/>
            <p:nvPr/>
          </p:nvSpPr>
          <p:spPr bwMode="gray">
            <a:xfrm>
              <a:off x="6172200" y="402165"/>
              <a:ext cx="5596465"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22" name="Freeform 5"/>
            <p:cNvSpPr/>
            <p:nvPr/>
          </p:nvSpPr>
          <p:spPr bwMode="gray">
            <a:xfrm rot="15922489">
              <a:off x="4203594" y="1826078"/>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rot="16200000">
              <a:off x="32954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5" y="1693333"/>
            <a:ext cx="3865134" cy="1735667"/>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547870" y="1143000"/>
            <a:ext cx="3227193"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marL="0" lvl="0" indent="0" algn="ctr">
              <a:buNone/>
            </a:pPr>
            <a:r>
              <a:rPr lang="en-US"/>
              <a:t>Click icon to add picture</a:t>
            </a:r>
            <a:endParaRPr lang="en-US" dirty="0"/>
          </a:p>
        </p:txBody>
      </p:sp>
      <p:sp>
        <p:nvSpPr>
          <p:cNvPr id="4" name="Text Placeholder 3"/>
          <p:cNvSpPr>
            <a:spLocks noGrp="1"/>
          </p:cNvSpPr>
          <p:nvPr>
            <p:ph type="body" sz="half" idx="2"/>
          </p:nvPr>
        </p:nvSpPr>
        <p:spPr bwMode="gray">
          <a:xfrm>
            <a:off x="1154954" y="3657600"/>
            <a:ext cx="3859212" cy="1371600"/>
          </a:xfrm>
        </p:spPr>
        <p:txBody>
          <a:bodyPr>
            <a:normAutofit/>
          </a:bodyPr>
          <a:lstStyle>
            <a:lvl1pPr marL="0" indent="0">
              <a:buNone/>
              <a:defRPr sz="14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8CEA68-06A2-47B9-94D1-AAE373D38C43}"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182991011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3" name="Rectangle 12"/>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Oval 16"/>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Oval 20"/>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4" name="Freeform 5"/>
            <p:cNvSpPr/>
            <p:nvPr/>
          </p:nvSpPr>
          <p:spPr bwMode="gray">
            <a:xfrm rot="10371525">
              <a:off x="263767" y="443825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1" name="Freeform 5"/>
            <p:cNvSpPr/>
            <p:nvPr/>
          </p:nvSpPr>
          <p:spPr bwMode="gray">
            <a:xfrm rot="10800000">
              <a:off x="459506" y="321130"/>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5"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4969927"/>
            <a:ext cx="8825659"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4" y="685800"/>
            <a:ext cx="8825659" cy="3429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5536665"/>
            <a:ext cx="8825658" cy="493712"/>
          </a:xfrm>
        </p:spPr>
        <p:txBody>
          <a:bodyPr>
            <a:normAutofit/>
          </a:bodyPr>
          <a:lstStyle>
            <a:lvl1pPr marL="0" indent="0">
              <a:buNone/>
              <a:defRPr sz="1200">
                <a:solidFill>
                  <a:schemeClr val="accent1">
                    <a:lumMod val="60000"/>
                    <a:lumOff val="40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8CEA68-06A2-47B9-94D1-AAE373D38C43}" type="datetimeFigureOut">
              <a:rPr lang="en-IN" smtClean="0"/>
              <a:t>12-12-2025</a:t>
            </a:fld>
            <a:endParaRPr lang="en-IN"/>
          </a:p>
        </p:txBody>
      </p:sp>
      <p:sp>
        <p:nvSpPr>
          <p:cNvPr id="6" name="Footer Placeholder 5"/>
          <p:cNvSpPr>
            <a:spLocks noGrp="1"/>
          </p:cNvSpPr>
          <p:nvPr>
            <p:ph type="ftr" sz="quarter" idx="11"/>
          </p:nvPr>
        </p:nvSpPr>
        <p:spPr/>
        <p:txBody>
          <a:bodyPr/>
          <a:lstStyle/>
          <a:p>
            <a:endParaRPr lang="en-IN"/>
          </a:p>
        </p:txBody>
      </p:sp>
      <p:sp>
        <p:nvSpPr>
          <p:cNvPr id="16" name="Rectangle 15"/>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7" name="Slide Number Placeholder 6"/>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2091419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Title and Caption">
    <p:spTree>
      <p:nvGrpSpPr>
        <p:cNvPr id="1" name=""/>
        <p:cNvGrpSpPr/>
        <p:nvPr/>
      </p:nvGrpSpPr>
      <p:grpSpPr>
        <a:xfrm>
          <a:off x="0" y="0"/>
          <a:ext cx="0" cy="0"/>
          <a:chOff x="0" y="0"/>
          <a:chExt cx="0" cy="0"/>
        </a:xfrm>
      </p:grpSpPr>
      <p:grpSp>
        <p:nvGrpSpPr>
          <p:cNvPr id="7" name="Group 6"/>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4" name="Oval 13"/>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Freeform 5"/>
            <p:cNvSpPr/>
            <p:nvPr/>
          </p:nvSpPr>
          <p:spPr bwMode="gray">
            <a:xfrm rot="21010068">
              <a:off x="8490951" y="2714874"/>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7" name="Freeform 5"/>
            <p:cNvSpPr/>
            <p:nvPr/>
          </p:nvSpPr>
          <p:spPr bwMode="gray">
            <a:xfrm>
              <a:off x="455612" y="2801319"/>
              <a:ext cx="11277600" cy="3602637"/>
            </a:xfrm>
            <a:custGeom>
              <a:avLst/>
              <a:gdLst/>
              <a:ahLst/>
              <a:cxnLst/>
              <a:rect l="l" t="t" r="r" b="b"/>
              <a:pathLst>
                <a:path w="10000" h="7946">
                  <a:moveTo>
                    <a:pt x="0" y="0"/>
                  </a:moveTo>
                  <a:lnTo>
                    <a:pt x="0" y="7945"/>
                  </a:lnTo>
                  <a:lnTo>
                    <a:pt x="10000" y="7946"/>
                  </a:lnTo>
                  <a:lnTo>
                    <a:pt x="10000" y="4"/>
                  </a:lnTo>
                  <a:lnTo>
                    <a:pt x="10000" y="4"/>
                  </a:lnTo>
                  <a:lnTo>
                    <a:pt x="9773" y="91"/>
                  </a:lnTo>
                  <a:lnTo>
                    <a:pt x="9547" y="175"/>
                  </a:lnTo>
                  <a:lnTo>
                    <a:pt x="9320" y="256"/>
                  </a:lnTo>
                  <a:lnTo>
                    <a:pt x="9092" y="326"/>
                  </a:lnTo>
                  <a:lnTo>
                    <a:pt x="8865" y="396"/>
                  </a:lnTo>
                  <a:lnTo>
                    <a:pt x="8637" y="462"/>
                  </a:lnTo>
                  <a:lnTo>
                    <a:pt x="8412" y="518"/>
                  </a:lnTo>
                  <a:lnTo>
                    <a:pt x="8184" y="571"/>
                  </a:lnTo>
                  <a:lnTo>
                    <a:pt x="7957" y="620"/>
                  </a:lnTo>
                  <a:lnTo>
                    <a:pt x="7734" y="662"/>
                  </a:lnTo>
                  <a:lnTo>
                    <a:pt x="7508" y="704"/>
                  </a:lnTo>
                  <a:lnTo>
                    <a:pt x="7285" y="739"/>
                  </a:lnTo>
                  <a:lnTo>
                    <a:pt x="7062" y="767"/>
                  </a:lnTo>
                  <a:lnTo>
                    <a:pt x="6840" y="795"/>
                  </a:lnTo>
                  <a:lnTo>
                    <a:pt x="6620" y="819"/>
                  </a:lnTo>
                  <a:lnTo>
                    <a:pt x="6402" y="837"/>
                  </a:lnTo>
                  <a:lnTo>
                    <a:pt x="6184" y="851"/>
                  </a:lnTo>
                  <a:lnTo>
                    <a:pt x="5968" y="865"/>
                  </a:lnTo>
                  <a:lnTo>
                    <a:pt x="5755" y="872"/>
                  </a:lnTo>
                  <a:lnTo>
                    <a:pt x="5542" y="879"/>
                  </a:lnTo>
                  <a:lnTo>
                    <a:pt x="5332" y="882"/>
                  </a:lnTo>
                  <a:lnTo>
                    <a:pt x="5124" y="879"/>
                  </a:lnTo>
                  <a:lnTo>
                    <a:pt x="4918" y="879"/>
                  </a:lnTo>
                  <a:lnTo>
                    <a:pt x="4714" y="872"/>
                  </a:lnTo>
                  <a:lnTo>
                    <a:pt x="4514" y="861"/>
                  </a:lnTo>
                  <a:lnTo>
                    <a:pt x="4316" y="851"/>
                  </a:lnTo>
                  <a:lnTo>
                    <a:pt x="4122" y="840"/>
                  </a:lnTo>
                  <a:lnTo>
                    <a:pt x="3929" y="823"/>
                  </a:lnTo>
                  <a:lnTo>
                    <a:pt x="3739" y="805"/>
                  </a:lnTo>
                  <a:lnTo>
                    <a:pt x="3553" y="788"/>
                  </a:lnTo>
                  <a:lnTo>
                    <a:pt x="3190" y="742"/>
                  </a:lnTo>
                  <a:lnTo>
                    <a:pt x="2842" y="693"/>
                  </a:lnTo>
                  <a:lnTo>
                    <a:pt x="2508" y="641"/>
                  </a:lnTo>
                  <a:lnTo>
                    <a:pt x="2192" y="585"/>
                  </a:lnTo>
                  <a:lnTo>
                    <a:pt x="1890" y="525"/>
                  </a:lnTo>
                  <a:lnTo>
                    <a:pt x="1610" y="462"/>
                  </a:lnTo>
                  <a:lnTo>
                    <a:pt x="1347" y="399"/>
                  </a:lnTo>
                  <a:lnTo>
                    <a:pt x="1105" y="336"/>
                  </a:lnTo>
                  <a:lnTo>
                    <a:pt x="883" y="277"/>
                  </a:lnTo>
                  <a:lnTo>
                    <a:pt x="686" y="221"/>
                  </a:lnTo>
                  <a:lnTo>
                    <a:pt x="508" y="168"/>
                  </a:lnTo>
                  <a:lnTo>
                    <a:pt x="358" y="123"/>
                  </a:lnTo>
                  <a:lnTo>
                    <a:pt x="232" y="81"/>
                  </a:lnTo>
                  <a:lnTo>
                    <a:pt x="59" y="21"/>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48798" y="1063417"/>
            <a:ext cx="8831816" cy="1372986"/>
          </a:xfrm>
        </p:spPr>
        <p:txBody>
          <a:bodyPr/>
          <a:lstStyle>
            <a:lvl1pPr>
              <a:defRPr sz="4000"/>
            </a:lvl1pPr>
          </a:lstStyle>
          <a:p>
            <a:r>
              <a:rPr lang="en-US"/>
              <a:t>Click to edit Master title style</a:t>
            </a:r>
            <a:endParaRPr lang="en-US" dirty="0"/>
          </a:p>
        </p:txBody>
      </p:sp>
      <p:sp>
        <p:nvSpPr>
          <p:cNvPr id="8" name="Text Placeholder 3"/>
          <p:cNvSpPr>
            <a:spLocks noGrp="1"/>
          </p:cNvSpPr>
          <p:nvPr>
            <p:ph type="body" sz="half" idx="2"/>
          </p:nvPr>
        </p:nvSpPr>
        <p:spPr>
          <a:xfrm>
            <a:off x="1154954" y="3543300"/>
            <a:ext cx="8825659" cy="24765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13" name="Rectangle 12"/>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107299101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Quote with Caption">
    <p:spTree>
      <p:nvGrpSpPr>
        <p:cNvPr id="1" name=""/>
        <p:cNvGrpSpPr/>
        <p:nvPr/>
      </p:nvGrpSpPr>
      <p:grpSpPr>
        <a:xfrm>
          <a:off x="0" y="0"/>
          <a:ext cx="0" cy="0"/>
          <a:chOff x="0" y="0"/>
          <a:chExt cx="0" cy="0"/>
        </a:xfrm>
      </p:grpSpPr>
      <p:grpSp>
        <p:nvGrpSpPr>
          <p:cNvPr id="3" name="Group 2"/>
          <p:cNvGrpSpPr/>
          <p:nvPr/>
        </p:nvGrpSpPr>
        <p:grpSpPr>
          <a:xfrm>
            <a:off x="0" y="0"/>
            <a:ext cx="12192000" cy="6858000"/>
            <a:chOff x="0" y="0"/>
            <a:chExt cx="12192000" cy="6858000"/>
          </a:xfrm>
        </p:grpSpPr>
        <p:sp>
          <p:nvSpPr>
            <p:cNvPr id="17" name="Rectangle 16"/>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20" name="Oval 19"/>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2" name="Oval 21"/>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3" name="Oval 22"/>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4" name="Oval 23"/>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5" name="Oval 24"/>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1" name="Freeform 5"/>
            <p:cNvSpPr/>
            <p:nvPr/>
          </p:nvSpPr>
          <p:spPr bwMode="gray">
            <a:xfrm rot="21010068">
              <a:off x="8490951" y="41851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2"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8"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16" name="TextBox 15"/>
          <p:cNvSpPr txBox="1"/>
          <p:nvPr/>
        </p:nvSpPr>
        <p:spPr bwMode="gray">
          <a:xfrm>
            <a:off x="881566" y="607336"/>
            <a:ext cx="801912"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13" name="TextBox 12"/>
          <p:cNvSpPr txBox="1"/>
          <p:nvPr/>
        </p:nvSpPr>
        <p:spPr bwMode="gray">
          <a:xfrm>
            <a:off x="9884458" y="2613787"/>
            <a:ext cx="652763" cy="1569660"/>
          </a:xfrm>
          <a:prstGeom prst="rect">
            <a:avLst/>
          </a:prstGeom>
          <a:noFill/>
        </p:spPr>
        <p:txBody>
          <a:bodyPr wrap="square" rtlCol="0">
            <a:spAutoFit/>
          </a:bodyPr>
          <a:lstStyle/>
          <a:p>
            <a:pPr algn="r"/>
            <a:r>
              <a:rPr lang="en-US" sz="9600" b="0" i="0" dirty="0">
                <a:solidFill>
                  <a:schemeClr val="accent1">
                    <a:lumMod val="60000"/>
                    <a:lumOff val="40000"/>
                  </a:schemeClr>
                </a:solidFill>
                <a:latin typeface="Arial"/>
                <a:cs typeface="Arial"/>
              </a:rPr>
              <a:t>”</a:t>
            </a:r>
          </a:p>
        </p:txBody>
      </p:sp>
      <p:sp>
        <p:nvSpPr>
          <p:cNvPr id="2" name="Title 1"/>
          <p:cNvSpPr>
            <a:spLocks noGrp="1"/>
          </p:cNvSpPr>
          <p:nvPr>
            <p:ph type="title"/>
          </p:nvPr>
        </p:nvSpPr>
        <p:spPr>
          <a:xfrm>
            <a:off x="1581878" y="982134"/>
            <a:ext cx="8453906" cy="2696632"/>
          </a:xfrm>
        </p:spPr>
        <p:txBody>
          <a:bodyPr/>
          <a:lstStyle>
            <a:lvl1pPr>
              <a:defRPr sz="4000"/>
            </a:lvl1pPr>
          </a:lstStyle>
          <a:p>
            <a:r>
              <a:rPr lang="en-US"/>
              <a:t>Click to edit Master title style</a:t>
            </a:r>
            <a:endParaRPr lang="en-US" dirty="0"/>
          </a:p>
        </p:txBody>
      </p:sp>
      <p:sp>
        <p:nvSpPr>
          <p:cNvPr id="14" name="Text Placeholder 3"/>
          <p:cNvSpPr>
            <a:spLocks noGrp="1"/>
          </p:cNvSpPr>
          <p:nvPr>
            <p:ph type="body" sz="half" idx="13"/>
          </p:nvPr>
        </p:nvSpPr>
        <p:spPr bwMode="gray">
          <a:xfrm>
            <a:off x="1945945" y="3678766"/>
            <a:ext cx="7731219" cy="342174"/>
          </a:xfrm>
        </p:spPr>
        <p:txBody>
          <a:bodyPr anchor="t">
            <a:normAutofit/>
          </a:bodyPr>
          <a:lstStyle>
            <a:lvl1pPr marL="0" indent="0">
              <a:buNone/>
              <a:defRPr lang="en-US" sz="1400" b="0" i="0" kern="1200" cap="small" dirty="0">
                <a:solidFill>
                  <a:schemeClr val="accent1">
                    <a:lumMod val="60000"/>
                    <a:lumOff val="40000"/>
                  </a:schemeClr>
                </a:solidFill>
                <a:latin typeface="+mn-lt"/>
                <a:ea typeface="+mn-ea"/>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0" name="Text Placeholder 3"/>
          <p:cNvSpPr>
            <a:spLocks noGrp="1"/>
          </p:cNvSpPr>
          <p:nvPr>
            <p:ph type="body" sz="half" idx="2"/>
          </p:nvPr>
        </p:nvSpPr>
        <p:spPr>
          <a:xfrm>
            <a:off x="1154954" y="5029199"/>
            <a:ext cx="9244897" cy="997857"/>
          </a:xfrm>
        </p:spPr>
        <p:txBody>
          <a:bodyPr anchor="ct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19" name="Rectangle 18"/>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40842617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Name Card">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1" name="Rectangle 10"/>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3" name="Freeform 5"/>
            <p:cNvSpPr/>
            <p:nvPr/>
          </p:nvSpPr>
          <p:spPr bwMode="gray">
            <a:xfrm rot="21010068">
              <a:off x="8490951" y="4193583"/>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8" name="Freeform 5"/>
            <p:cNvSpPr/>
            <p:nvPr/>
          </p:nvSpPr>
          <p:spPr bwMode="gray">
            <a:xfrm>
              <a:off x="455612" y="4241801"/>
              <a:ext cx="11277600" cy="2337161"/>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2"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1"/>
          <p:cNvSpPr>
            <a:spLocks noGrp="1"/>
          </p:cNvSpPr>
          <p:nvPr>
            <p:ph type="title"/>
          </p:nvPr>
        </p:nvSpPr>
        <p:spPr>
          <a:xfrm>
            <a:off x="1154954" y="2370667"/>
            <a:ext cx="8825660" cy="1822514"/>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5024967"/>
            <a:ext cx="8825659" cy="860400"/>
          </a:xfrm>
        </p:spPr>
        <p:txBody>
          <a:bodyPr anchor="t"/>
          <a:lstStyle>
            <a:lvl1pPr marL="0" indent="0" algn="l">
              <a:buNone/>
              <a:defRPr sz="2000" cap="none">
                <a:solidFill>
                  <a:schemeClr val="accent1">
                    <a:lumMod val="60000"/>
                    <a:lumOff val="4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273704186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2603502"/>
            <a:ext cx="314187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1154953" y="3179764"/>
            <a:ext cx="314187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12721" y="2603500"/>
            <a:ext cx="3147009"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4512721" y="3179763"/>
            <a:ext cx="3147009"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888135" y="2603501"/>
            <a:ext cx="3145730"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888329" y="3179762"/>
            <a:ext cx="3145536" cy="284729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440397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777240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E8CEA68-06A2-47B9-94D1-AAE373D38C43}" type="datetimeFigureOut">
              <a:rPr lang="en-IN" smtClean="0"/>
              <a:t>12-12-2025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66134645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54954" y="4532844"/>
            <a:ext cx="3050438"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Picture Placeholder 2"/>
          <p:cNvSpPr>
            <a:spLocks noGrp="1" noChangeAspect="1"/>
          </p:cNvSpPr>
          <p:nvPr>
            <p:ph type="pic" idx="15"/>
          </p:nvPr>
        </p:nvSpPr>
        <p:spPr>
          <a:xfrm>
            <a:off x="1334553"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1154954" y="5109106"/>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4568865" y="4532844"/>
            <a:ext cx="3050438" cy="576263"/>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1" name="Picture Placeholder 2"/>
          <p:cNvSpPr>
            <a:spLocks noGrp="1" noChangeAspect="1"/>
          </p:cNvSpPr>
          <p:nvPr>
            <p:ph type="pic" idx="21"/>
          </p:nvPr>
        </p:nvSpPr>
        <p:spPr>
          <a:xfrm>
            <a:off x="4748462" y="2603500"/>
            <a:ext cx="2691243"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4570172" y="5109105"/>
            <a:ext cx="3050438"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982775" y="4532845"/>
            <a:ext cx="3051095" cy="576262"/>
          </a:xfrm>
        </p:spPr>
        <p:txBody>
          <a:bodyPr anchor="b">
            <a:noAutofit/>
          </a:bodyPr>
          <a:lstStyle>
            <a:lvl1pPr marL="0" indent="0">
              <a:buNone/>
              <a:defRPr sz="2400" b="0">
                <a:solidFill>
                  <a:schemeClr val="accent1">
                    <a:lumMod val="60000"/>
                    <a:lumOff val="4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2" name="Picture Placeholder 2"/>
          <p:cNvSpPr>
            <a:spLocks noGrp="1" noChangeAspect="1"/>
          </p:cNvSpPr>
          <p:nvPr>
            <p:ph type="pic" idx="22"/>
          </p:nvPr>
        </p:nvSpPr>
        <p:spPr>
          <a:xfrm>
            <a:off x="8163031" y="2603500"/>
            <a:ext cx="2691242" cy="159151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982775" y="5109104"/>
            <a:ext cx="3051096" cy="91795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43" name="Straight Connector 42"/>
          <p:cNvCxnSpPr/>
          <p:nvPr/>
        </p:nvCxnSpPr>
        <p:spPr>
          <a:xfrm>
            <a:off x="4405831"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cxnSp>
        <p:nvCxnSpPr>
          <p:cNvPr id="44" name="Straight Connector 43"/>
          <p:cNvCxnSpPr/>
          <p:nvPr/>
        </p:nvCxnSpPr>
        <p:spPr>
          <a:xfrm>
            <a:off x="7797802" y="2569633"/>
            <a:ext cx="0" cy="3492499"/>
          </a:xfrm>
          <a:prstGeom prst="line">
            <a:avLst/>
          </a:prstGeom>
          <a:ln w="12700" cmpd="sng">
            <a:solidFill>
              <a:schemeClr val="accent1">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6"/>
          <p:cNvSpPr>
            <a:spLocks noGrp="1"/>
          </p:cNvSpPr>
          <p:nvPr>
            <p:ph type="dt" sz="half" idx="10"/>
          </p:nvPr>
        </p:nvSpPr>
        <p:spPr/>
        <p:txBody>
          <a:bodyPr/>
          <a:lstStyle/>
          <a:p>
            <a:fld id="{9E8CEA68-06A2-47B9-94D1-AAE373D38C43}" type="datetimeFigureOut">
              <a:rPr lang="en-IN" smtClean="0"/>
              <a:t>12-12-2025</a:t>
            </a:fld>
            <a:endParaRPr lang="en-IN"/>
          </a:p>
        </p:txBody>
      </p:sp>
      <p:sp>
        <p:nvSpPr>
          <p:cNvPr id="8" name="Footer Placeholder 7"/>
          <p:cNvSpPr>
            <a:spLocks noGrp="1"/>
          </p:cNvSpPr>
          <p:nvPr>
            <p:ph type="ftr" sz="quarter" idx="11"/>
          </p:nvPr>
        </p:nvSpPr>
        <p:spPr>
          <a:xfrm>
            <a:off x="561111" y="6391838"/>
            <a:ext cx="3644282" cy="304801"/>
          </a:xfrm>
        </p:spPr>
        <p:txBody>
          <a:bodyPr/>
          <a:lstStyle/>
          <a:p>
            <a:endParaRPr lang="en-IN"/>
          </a:p>
        </p:txBody>
      </p:sp>
      <p:sp>
        <p:nvSpPr>
          <p:cNvPr id="9" name="Slide Number Placeholder 8"/>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38429980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a:xfrm>
            <a:off x="1154954" y="973668"/>
            <a:ext cx="8825659" cy="706964"/>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1154954" y="2603500"/>
            <a:ext cx="8825659" cy="3416300"/>
          </a:xfrm>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95439" y="6391838"/>
            <a:ext cx="990599" cy="304799"/>
          </a:xfrm>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159702903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grpSp>
        <p:nvGrpSpPr>
          <p:cNvPr id="9" name="Group 8"/>
          <p:cNvGrpSpPr/>
          <p:nvPr/>
        </p:nvGrpSpPr>
        <p:grpSpPr>
          <a:xfrm>
            <a:off x="0" y="0"/>
            <a:ext cx="12192000" cy="6858000"/>
            <a:chOff x="0" y="0"/>
            <a:chExt cx="12192000" cy="6858000"/>
          </a:xfrm>
        </p:grpSpPr>
        <p:sp>
          <p:nvSpPr>
            <p:cNvPr id="12" name="Rectangle 11"/>
            <p:cNvSpPr/>
            <p:nvPr/>
          </p:nvSpPr>
          <p:spPr>
            <a:xfrm>
              <a:off x="0" y="0"/>
              <a:ext cx="12192000" cy="6858000"/>
            </a:xfrm>
            <a:prstGeom prst="rect">
              <a:avLst/>
            </a:prstGeom>
            <a:blipFill>
              <a:blip r:embed="rId2">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Oval 14"/>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9" name="Oval 18"/>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Oval 19"/>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7" name="Rectangle 6"/>
            <p:cNvSpPr/>
            <p:nvPr/>
          </p:nvSpPr>
          <p:spPr bwMode="gray">
            <a:xfrm>
              <a:off x="414867" y="402165"/>
              <a:ext cx="6510866" cy="6053670"/>
            </a:xfrm>
            <a:prstGeom prst="rect">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sp>
        <p:sp>
          <p:nvSpPr>
            <p:cNvPr id="17" name="Freeform 5"/>
            <p:cNvSpPr/>
            <p:nvPr/>
          </p:nvSpPr>
          <p:spPr bwMode="gray">
            <a:xfrm rot="5101749">
              <a:off x="6294738" y="457773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0" name="Freeform 5"/>
            <p:cNvSpPr/>
            <p:nvPr/>
          </p:nvSpPr>
          <p:spPr bwMode="gray">
            <a:xfrm rot="5400000">
              <a:off x="4449232" y="2801721"/>
              <a:ext cx="6053670" cy="1254558"/>
            </a:xfrm>
            <a:custGeom>
              <a:avLst/>
              <a:gdLst/>
              <a:ahLst/>
              <a:cxnLst/>
              <a:rect l="l" t="t" r="r" b="b"/>
              <a:pathLst>
                <a:path w="10000" h="8000">
                  <a:moveTo>
                    <a:pt x="0" y="0"/>
                  </a:moveTo>
                  <a:lnTo>
                    <a:pt x="0" y="7970"/>
                  </a:lnTo>
                  <a:lnTo>
                    <a:pt x="10000" y="8000"/>
                  </a:lnTo>
                  <a:lnTo>
                    <a:pt x="10000" y="7"/>
                  </a:lnTo>
                  <a:lnTo>
                    <a:pt x="10000" y="7"/>
                  </a:lnTo>
                  <a:lnTo>
                    <a:pt x="9773" y="156"/>
                  </a:lnTo>
                  <a:lnTo>
                    <a:pt x="9547" y="298"/>
                  </a:lnTo>
                  <a:lnTo>
                    <a:pt x="9320" y="437"/>
                  </a:lnTo>
                  <a:lnTo>
                    <a:pt x="9092" y="556"/>
                  </a:lnTo>
                  <a:lnTo>
                    <a:pt x="8865" y="676"/>
                  </a:lnTo>
                  <a:lnTo>
                    <a:pt x="8637" y="788"/>
                  </a:lnTo>
                  <a:lnTo>
                    <a:pt x="8412" y="884"/>
                  </a:lnTo>
                  <a:lnTo>
                    <a:pt x="8184" y="975"/>
                  </a:lnTo>
                  <a:lnTo>
                    <a:pt x="7957" y="1058"/>
                  </a:lnTo>
                  <a:lnTo>
                    <a:pt x="7734" y="1130"/>
                  </a:lnTo>
                  <a:lnTo>
                    <a:pt x="7508" y="1202"/>
                  </a:lnTo>
                  <a:lnTo>
                    <a:pt x="7285" y="1262"/>
                  </a:lnTo>
                  <a:lnTo>
                    <a:pt x="7062" y="1309"/>
                  </a:lnTo>
                  <a:lnTo>
                    <a:pt x="6840" y="1358"/>
                  </a:lnTo>
                  <a:lnTo>
                    <a:pt x="6620" y="1399"/>
                  </a:lnTo>
                  <a:lnTo>
                    <a:pt x="6402" y="1428"/>
                  </a:lnTo>
                  <a:lnTo>
                    <a:pt x="6184" y="1453"/>
                  </a:lnTo>
                  <a:lnTo>
                    <a:pt x="5968" y="1477"/>
                  </a:lnTo>
                  <a:lnTo>
                    <a:pt x="5755" y="1488"/>
                  </a:lnTo>
                  <a:lnTo>
                    <a:pt x="5542" y="1500"/>
                  </a:lnTo>
                  <a:lnTo>
                    <a:pt x="5332" y="1506"/>
                  </a:lnTo>
                  <a:lnTo>
                    <a:pt x="5124" y="1500"/>
                  </a:lnTo>
                  <a:lnTo>
                    <a:pt x="4918" y="1500"/>
                  </a:lnTo>
                  <a:lnTo>
                    <a:pt x="4714" y="1488"/>
                  </a:lnTo>
                  <a:lnTo>
                    <a:pt x="4514" y="1470"/>
                  </a:lnTo>
                  <a:lnTo>
                    <a:pt x="4316" y="1453"/>
                  </a:lnTo>
                  <a:lnTo>
                    <a:pt x="4122" y="1434"/>
                  </a:lnTo>
                  <a:lnTo>
                    <a:pt x="3929" y="1405"/>
                  </a:lnTo>
                  <a:lnTo>
                    <a:pt x="3739" y="1374"/>
                  </a:lnTo>
                  <a:lnTo>
                    <a:pt x="3553" y="1346"/>
                  </a:lnTo>
                  <a:lnTo>
                    <a:pt x="3190" y="1267"/>
                  </a:lnTo>
                  <a:lnTo>
                    <a:pt x="2842" y="1183"/>
                  </a:lnTo>
                  <a:lnTo>
                    <a:pt x="2508" y="1095"/>
                  </a:lnTo>
                  <a:lnTo>
                    <a:pt x="2192" y="998"/>
                  </a:lnTo>
                  <a:lnTo>
                    <a:pt x="1890" y="897"/>
                  </a:lnTo>
                  <a:lnTo>
                    <a:pt x="1610" y="788"/>
                  </a:lnTo>
                  <a:lnTo>
                    <a:pt x="1347" y="681"/>
                  </a:lnTo>
                  <a:lnTo>
                    <a:pt x="1105" y="574"/>
                  </a:lnTo>
                  <a:lnTo>
                    <a:pt x="883" y="473"/>
                  </a:lnTo>
                  <a:lnTo>
                    <a:pt x="686" y="377"/>
                  </a:lnTo>
                  <a:lnTo>
                    <a:pt x="508" y="286"/>
                  </a:lnTo>
                  <a:lnTo>
                    <a:pt x="358" y="210"/>
                  </a:lnTo>
                  <a:lnTo>
                    <a:pt x="232" y="138"/>
                  </a:lnTo>
                  <a:lnTo>
                    <a:pt x="59" y="35"/>
                  </a:lnTo>
                  <a:lnTo>
                    <a:pt x="0" y="0"/>
                  </a:lnTo>
                  <a:lnTo>
                    <a:pt x="0" y="0"/>
                  </a:lnTo>
                  <a:close/>
                </a:path>
              </a:pathLst>
            </a:custGeom>
            <a:solidFill>
              <a:schemeClr val="bg1"/>
            </a:solidFill>
            <a:ln>
              <a:noFill/>
            </a:ln>
          </p:spPr>
        </p:sp>
        <p:sp>
          <p:nvSpPr>
            <p:cNvPr id="13"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Vertical Title 1"/>
          <p:cNvSpPr>
            <a:spLocks noGrp="1"/>
          </p:cNvSpPr>
          <p:nvPr>
            <p:ph type="title" orient="vert"/>
          </p:nvPr>
        </p:nvSpPr>
        <p:spPr>
          <a:xfrm>
            <a:off x="8585235" y="1278467"/>
            <a:ext cx="1409965" cy="4748590"/>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1154954" y="1278467"/>
            <a:ext cx="6256025" cy="474859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10653104" y="6391838"/>
            <a:ext cx="992135" cy="304799"/>
          </a:xfrm>
        </p:spPr>
        <p:txBody>
          <a:bodyPr/>
          <a:lstStyle/>
          <a:p>
            <a:fld id="{9E8CEA68-06A2-47B9-94D1-AAE373D38C43}" type="datetimeFigureOut">
              <a:rPr lang="en-IN" smtClean="0"/>
              <a:t>12-12-2025</a:t>
            </a:fld>
            <a:endParaRPr lang="en-IN"/>
          </a:p>
        </p:txBody>
      </p:sp>
      <p:sp>
        <p:nvSpPr>
          <p:cNvPr id="5" name="Footer Placeholder 4"/>
          <p:cNvSpPr>
            <a:spLocks noGrp="1"/>
          </p:cNvSpPr>
          <p:nvPr>
            <p:ph type="ftr" sz="quarter" idx="11"/>
          </p:nvPr>
        </p:nvSpPr>
        <p:spPr/>
        <p:txBody>
          <a:bodyPr/>
          <a:lstStyle/>
          <a:p>
            <a:endParaRPr lang="en-IN"/>
          </a:p>
        </p:txBody>
      </p:sp>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12"/>
          </p:nvPr>
        </p:nvSpPr>
        <p:spPr/>
        <p:txBody>
          <a:bodyPr/>
          <a:lstStyle/>
          <a:p>
            <a:fld id="{F2F04EB5-BDFB-4E23-A941-C2727F532805}" type="slidenum">
              <a:rPr lang="en-IN" smtClean="0"/>
              <a:t>‹#›</a:t>
            </a:fld>
            <a:endParaRPr lang="en-IN"/>
          </a:p>
        </p:txBody>
      </p:sp>
    </p:spTree>
    <p:extLst>
      <p:ext uri="{BB962C8B-B14F-4D97-AF65-F5344CB8AC3E}">
        <p14:creationId xmlns:p14="http://schemas.microsoft.com/office/powerpoint/2010/main" val="1439839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8" name="Group 7"/>
          <p:cNvGrpSpPr/>
          <p:nvPr/>
        </p:nvGrpSpPr>
        <p:grpSpPr>
          <a:xfrm>
            <a:off x="0" y="0"/>
            <a:ext cx="12192000" cy="6858000"/>
            <a:chOff x="0" y="0"/>
            <a:chExt cx="12192000" cy="6858000"/>
          </a:xfrm>
        </p:grpSpPr>
        <p:sp>
          <p:nvSpPr>
            <p:cNvPr id="7" name="Rectangle 6"/>
            <p:cNvSpPr/>
            <p:nvPr/>
          </p:nvSpPr>
          <p:spPr>
            <a:xfrm>
              <a:off x="0" y="0"/>
              <a:ext cx="12192000" cy="6858000"/>
            </a:xfrm>
            <a:prstGeom prst="rect">
              <a:avLst/>
            </a:prstGeom>
            <a:blipFill>
              <a:blip r:embed="rId19">
                <a:duotone>
                  <a:schemeClr val="dk2">
                    <a:shade val="69000"/>
                    <a:hueMod val="91000"/>
                    <a:satMod val="164000"/>
                    <a:lumMod val="74000"/>
                  </a:schemeClr>
                  <a:schemeClr val="dk2">
                    <a:hueMod val="124000"/>
                    <a:satMod val="140000"/>
                    <a:lumMod val="142000"/>
                  </a:schemeClr>
                </a:duotone>
              </a:blip>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Oval 12"/>
            <p:cNvSpPr/>
            <p:nvPr/>
          </p:nvSpPr>
          <p:spPr>
            <a:xfrm>
              <a:off x="0" y="2667000"/>
              <a:ext cx="4191000" cy="4191000"/>
            </a:xfrm>
            <a:prstGeom prst="ellipse">
              <a:avLst/>
            </a:prstGeom>
            <a:gradFill flip="none" rotWithShape="1">
              <a:gsLst>
                <a:gs pos="0">
                  <a:schemeClr val="accent5">
                    <a:alpha val="11000"/>
                  </a:schemeClr>
                </a:gs>
                <a:gs pos="75000">
                  <a:schemeClr val="accent5">
                    <a:alpha val="0"/>
                  </a:schemeClr>
                </a:gs>
                <a:gs pos="36000">
                  <a:schemeClr val="accent5">
                    <a:alpha val="10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5" name="Oval 14"/>
            <p:cNvSpPr/>
            <p:nvPr/>
          </p:nvSpPr>
          <p:spPr>
            <a:xfrm>
              <a:off x="0" y="2895600"/>
              <a:ext cx="2362200" cy="2362200"/>
            </a:xfrm>
            <a:prstGeom prst="ellipse">
              <a:avLst/>
            </a:prstGeom>
            <a:gradFill flip="none" rotWithShape="1">
              <a:gsLst>
                <a:gs pos="0">
                  <a:schemeClr val="accent5">
                    <a:alpha val="8000"/>
                  </a:schemeClr>
                </a:gs>
                <a:gs pos="72000">
                  <a:schemeClr val="accent5">
                    <a:alpha val="0"/>
                  </a:schemeClr>
                </a:gs>
                <a:gs pos="36000">
                  <a:schemeClr val="accent5">
                    <a:alpha val="8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8" name="Oval 17"/>
            <p:cNvSpPr/>
            <p:nvPr/>
          </p:nvSpPr>
          <p:spPr>
            <a:xfrm>
              <a:off x="8609012" y="5867400"/>
              <a:ext cx="990600" cy="990600"/>
            </a:xfrm>
            <a:prstGeom prst="ellipse">
              <a:avLst/>
            </a:prstGeom>
            <a:gradFill flip="none" rotWithShape="1">
              <a:gsLst>
                <a:gs pos="0">
                  <a:schemeClr val="accent5">
                    <a:alpha val="14000"/>
                  </a:schemeClr>
                </a:gs>
                <a:gs pos="66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6" name="Oval 15"/>
            <p:cNvSpPr/>
            <p:nvPr/>
          </p:nvSpPr>
          <p:spPr>
            <a:xfrm>
              <a:off x="8609012" y="1676400"/>
              <a:ext cx="2819400" cy="2819400"/>
            </a:xfrm>
            <a:prstGeom prst="ellipse">
              <a:avLst/>
            </a:prstGeom>
            <a:gradFill flip="none" rotWithShape="1">
              <a:gsLst>
                <a:gs pos="0">
                  <a:schemeClr val="accent5">
                    <a:alpha val="7000"/>
                  </a:schemeClr>
                </a:gs>
                <a:gs pos="69000">
                  <a:schemeClr val="accent5">
                    <a:alpha val="0"/>
                  </a:schemeClr>
                </a:gs>
                <a:gs pos="36000">
                  <a:schemeClr val="accent5">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17" name="Oval 16"/>
            <p:cNvSpPr/>
            <p:nvPr/>
          </p:nvSpPr>
          <p:spPr>
            <a:xfrm>
              <a:off x="7999412" y="8464"/>
              <a:ext cx="1600200" cy="1600200"/>
            </a:xfrm>
            <a:prstGeom prst="ellipse">
              <a:avLst/>
            </a:prstGeom>
            <a:gradFill flip="none" rotWithShape="1">
              <a:gsLst>
                <a:gs pos="0">
                  <a:schemeClr val="accent5">
                    <a:alpha val="14000"/>
                  </a:schemeClr>
                </a:gs>
                <a:gs pos="73000">
                  <a:schemeClr val="accent5">
                    <a:alpha val="0"/>
                  </a:schemeClr>
                </a:gs>
                <a:gs pos="36000">
                  <a:schemeClr val="accent5">
                    <a:alpha val="7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sp>
        <p:sp>
          <p:nvSpPr>
            <p:cNvPr id="20" name="Freeform 5"/>
            <p:cNvSpPr/>
            <p:nvPr/>
          </p:nvSpPr>
          <p:spPr bwMode="gray">
            <a:xfrm rot="21010068">
              <a:off x="8490951" y="1797517"/>
              <a:ext cx="3299407" cy="440924"/>
            </a:xfrm>
            <a:custGeom>
              <a:avLst/>
              <a:gdLst/>
              <a:ahLst/>
              <a:cxnLst/>
              <a:rect l="l" t="t" r="r" b="b"/>
              <a:pathLst>
                <a:path w="10000" h="5291">
                  <a:moveTo>
                    <a:pt x="85" y="2532"/>
                  </a:moveTo>
                  <a:cubicBezTo>
                    <a:pt x="1736" y="3911"/>
                    <a:pt x="7524" y="5298"/>
                    <a:pt x="9958" y="5291"/>
                  </a:cubicBezTo>
                  <a:cubicBezTo>
                    <a:pt x="9989" y="1958"/>
                    <a:pt x="9969" y="3333"/>
                    <a:pt x="10000" y="0"/>
                  </a:cubicBezTo>
                  <a:lnTo>
                    <a:pt x="10000" y="0"/>
                  </a:lnTo>
                  <a:lnTo>
                    <a:pt x="9667" y="204"/>
                  </a:lnTo>
                  <a:lnTo>
                    <a:pt x="9334" y="400"/>
                  </a:lnTo>
                  <a:lnTo>
                    <a:pt x="9001" y="590"/>
                  </a:lnTo>
                  <a:lnTo>
                    <a:pt x="8667" y="753"/>
                  </a:lnTo>
                  <a:lnTo>
                    <a:pt x="8333" y="917"/>
                  </a:lnTo>
                  <a:lnTo>
                    <a:pt x="7999" y="1071"/>
                  </a:lnTo>
                  <a:lnTo>
                    <a:pt x="7669" y="1202"/>
                  </a:lnTo>
                  <a:lnTo>
                    <a:pt x="7333" y="1325"/>
                  </a:lnTo>
                  <a:lnTo>
                    <a:pt x="7000" y="1440"/>
                  </a:lnTo>
                  <a:lnTo>
                    <a:pt x="6673" y="1538"/>
                  </a:lnTo>
                  <a:lnTo>
                    <a:pt x="6340" y="1636"/>
                  </a:lnTo>
                  <a:lnTo>
                    <a:pt x="6013" y="1719"/>
                  </a:lnTo>
                  <a:lnTo>
                    <a:pt x="5686" y="1784"/>
                  </a:lnTo>
                  <a:lnTo>
                    <a:pt x="5359" y="1850"/>
                  </a:lnTo>
                  <a:lnTo>
                    <a:pt x="5036" y="1906"/>
                  </a:lnTo>
                  <a:lnTo>
                    <a:pt x="4717" y="1948"/>
                  </a:lnTo>
                  <a:lnTo>
                    <a:pt x="4396" y="1980"/>
                  </a:lnTo>
                  <a:lnTo>
                    <a:pt x="4079" y="2013"/>
                  </a:lnTo>
                  <a:lnTo>
                    <a:pt x="3766" y="2029"/>
                  </a:lnTo>
                  <a:lnTo>
                    <a:pt x="3454" y="2046"/>
                  </a:lnTo>
                  <a:lnTo>
                    <a:pt x="3145" y="2053"/>
                  </a:lnTo>
                  <a:lnTo>
                    <a:pt x="2839" y="2046"/>
                  </a:lnTo>
                  <a:lnTo>
                    <a:pt x="2537" y="2046"/>
                  </a:lnTo>
                  <a:lnTo>
                    <a:pt x="2238" y="2029"/>
                  </a:lnTo>
                  <a:lnTo>
                    <a:pt x="1943" y="2004"/>
                  </a:lnTo>
                  <a:lnTo>
                    <a:pt x="1653" y="1980"/>
                  </a:lnTo>
                  <a:lnTo>
                    <a:pt x="1368" y="1955"/>
                  </a:lnTo>
                  <a:lnTo>
                    <a:pt x="1085" y="1915"/>
                  </a:lnTo>
                  <a:lnTo>
                    <a:pt x="806" y="1873"/>
                  </a:lnTo>
                  <a:lnTo>
                    <a:pt x="533" y="1833"/>
                  </a:lnTo>
                  <a:lnTo>
                    <a:pt x="0" y="1726"/>
                  </a:lnTo>
                  <a:cubicBezTo>
                    <a:pt x="28" y="1995"/>
                    <a:pt x="57" y="2263"/>
                    <a:pt x="85" y="2532"/>
                  </a:cubicBezTo>
                  <a:close/>
                </a:path>
              </a:pathLst>
            </a:custGeom>
            <a:solidFill>
              <a:schemeClr val="bg1">
                <a:alpha val="20000"/>
              </a:schemeClr>
            </a:solidFill>
            <a:ln>
              <a:noFill/>
            </a:ln>
          </p:spPr>
        </p:sp>
        <p:sp>
          <p:nvSpPr>
            <p:cNvPr id="19" name="Freeform 5"/>
            <p:cNvSpPr/>
            <p:nvPr/>
          </p:nvSpPr>
          <p:spPr bwMode="gray">
            <a:xfrm>
              <a:off x="459506" y="1866405"/>
              <a:ext cx="11277600" cy="4533900"/>
            </a:xfrm>
            <a:custGeom>
              <a:avLst/>
              <a:gdLst/>
              <a:ahLst/>
              <a:cxnLst/>
              <a:rect l="0" t="0" r="r" b="b"/>
              <a:pathLst>
                <a:path w="7104" h="2856">
                  <a:moveTo>
                    <a:pt x="0" y="0"/>
                  </a:moveTo>
                  <a:lnTo>
                    <a:pt x="0" y="2856"/>
                  </a:lnTo>
                  <a:lnTo>
                    <a:pt x="7104" y="2856"/>
                  </a:lnTo>
                  <a:lnTo>
                    <a:pt x="7104" y="1"/>
                  </a:lnTo>
                  <a:lnTo>
                    <a:pt x="7104" y="1"/>
                  </a:lnTo>
                  <a:lnTo>
                    <a:pt x="6943" y="26"/>
                  </a:lnTo>
                  <a:lnTo>
                    <a:pt x="6782" y="50"/>
                  </a:lnTo>
                  <a:lnTo>
                    <a:pt x="6621" y="73"/>
                  </a:lnTo>
                  <a:lnTo>
                    <a:pt x="6459" y="93"/>
                  </a:lnTo>
                  <a:lnTo>
                    <a:pt x="6298" y="113"/>
                  </a:lnTo>
                  <a:lnTo>
                    <a:pt x="6136" y="132"/>
                  </a:lnTo>
                  <a:lnTo>
                    <a:pt x="5976" y="148"/>
                  </a:lnTo>
                  <a:lnTo>
                    <a:pt x="5814" y="163"/>
                  </a:lnTo>
                  <a:lnTo>
                    <a:pt x="5653" y="177"/>
                  </a:lnTo>
                  <a:lnTo>
                    <a:pt x="5494" y="189"/>
                  </a:lnTo>
                  <a:lnTo>
                    <a:pt x="5334" y="201"/>
                  </a:lnTo>
                  <a:lnTo>
                    <a:pt x="5175" y="211"/>
                  </a:lnTo>
                  <a:lnTo>
                    <a:pt x="5017" y="219"/>
                  </a:lnTo>
                  <a:lnTo>
                    <a:pt x="4859" y="227"/>
                  </a:lnTo>
                  <a:lnTo>
                    <a:pt x="4703" y="234"/>
                  </a:lnTo>
                  <a:lnTo>
                    <a:pt x="4548" y="239"/>
                  </a:lnTo>
                  <a:lnTo>
                    <a:pt x="4393" y="243"/>
                  </a:lnTo>
                  <a:lnTo>
                    <a:pt x="4240" y="247"/>
                  </a:lnTo>
                  <a:lnTo>
                    <a:pt x="4088" y="249"/>
                  </a:lnTo>
                  <a:lnTo>
                    <a:pt x="3937" y="251"/>
                  </a:lnTo>
                  <a:lnTo>
                    <a:pt x="3788" y="252"/>
                  </a:lnTo>
                  <a:lnTo>
                    <a:pt x="3640" y="251"/>
                  </a:lnTo>
                  <a:lnTo>
                    <a:pt x="3494" y="251"/>
                  </a:lnTo>
                  <a:lnTo>
                    <a:pt x="3349" y="249"/>
                  </a:lnTo>
                  <a:lnTo>
                    <a:pt x="3207" y="246"/>
                  </a:lnTo>
                  <a:lnTo>
                    <a:pt x="3066" y="243"/>
                  </a:lnTo>
                  <a:lnTo>
                    <a:pt x="2928" y="240"/>
                  </a:lnTo>
                  <a:lnTo>
                    <a:pt x="2791" y="235"/>
                  </a:lnTo>
                  <a:lnTo>
                    <a:pt x="2656" y="230"/>
                  </a:lnTo>
                  <a:lnTo>
                    <a:pt x="2524" y="225"/>
                  </a:lnTo>
                  <a:lnTo>
                    <a:pt x="2266" y="212"/>
                  </a:lnTo>
                  <a:lnTo>
                    <a:pt x="2019" y="198"/>
                  </a:lnTo>
                  <a:lnTo>
                    <a:pt x="1782" y="183"/>
                  </a:lnTo>
                  <a:lnTo>
                    <a:pt x="1557" y="167"/>
                  </a:lnTo>
                  <a:lnTo>
                    <a:pt x="1343" y="150"/>
                  </a:lnTo>
                  <a:lnTo>
                    <a:pt x="1144" y="132"/>
                  </a:lnTo>
                  <a:lnTo>
                    <a:pt x="957" y="114"/>
                  </a:lnTo>
                  <a:lnTo>
                    <a:pt x="785" y="96"/>
                  </a:lnTo>
                  <a:lnTo>
                    <a:pt x="627" y="79"/>
                  </a:lnTo>
                  <a:lnTo>
                    <a:pt x="487" y="63"/>
                  </a:lnTo>
                  <a:lnTo>
                    <a:pt x="361" y="48"/>
                  </a:lnTo>
                  <a:lnTo>
                    <a:pt x="254" y="35"/>
                  </a:lnTo>
                  <a:lnTo>
                    <a:pt x="165" y="23"/>
                  </a:lnTo>
                  <a:lnTo>
                    <a:pt x="42" y="6"/>
                  </a:lnTo>
                  <a:lnTo>
                    <a:pt x="0" y="0"/>
                  </a:lnTo>
                  <a:lnTo>
                    <a:pt x="0" y="0"/>
                  </a:lnTo>
                  <a:close/>
                </a:path>
              </a:pathLst>
            </a:custGeom>
            <a:solidFill>
              <a:schemeClr val="bg1"/>
            </a:solidFill>
            <a:ln>
              <a:noFill/>
            </a:ln>
          </p:spPr>
        </p:sp>
        <p:sp>
          <p:nvSpPr>
            <p:cNvPr id="14" name="Freeform 5"/>
            <p:cNvSpPr>
              <a:spLocks noEditPoints="1"/>
            </p:cNvSpPr>
            <p:nvPr/>
          </p:nvSpPr>
          <p:spPr bwMode="gray">
            <a:xfrm>
              <a:off x="0" y="1587"/>
              <a:ext cx="12192000" cy="6856413"/>
            </a:xfrm>
            <a:custGeom>
              <a:avLst/>
              <a:gdLst/>
              <a:ahLst/>
              <a:cxnLst/>
              <a:rect l="0" t="0" r="r" b="b"/>
              <a:pathLst>
                <a:path w="15356" h="8638">
                  <a:moveTo>
                    <a:pt x="0" y="0"/>
                  </a:moveTo>
                  <a:lnTo>
                    <a:pt x="0" y="8638"/>
                  </a:lnTo>
                  <a:lnTo>
                    <a:pt x="15356" y="8638"/>
                  </a:lnTo>
                  <a:lnTo>
                    <a:pt x="15356" y="0"/>
                  </a:lnTo>
                  <a:lnTo>
                    <a:pt x="0" y="0"/>
                  </a:lnTo>
                  <a:close/>
                  <a:moveTo>
                    <a:pt x="14748" y="8038"/>
                  </a:moveTo>
                  <a:lnTo>
                    <a:pt x="600" y="8038"/>
                  </a:lnTo>
                  <a:lnTo>
                    <a:pt x="600" y="592"/>
                  </a:lnTo>
                  <a:lnTo>
                    <a:pt x="14748" y="592"/>
                  </a:lnTo>
                  <a:lnTo>
                    <a:pt x="14748" y="8038"/>
                  </a:lnTo>
                  <a:close/>
                </a:path>
              </a:pathLst>
            </a:custGeom>
            <a:solidFill>
              <a:schemeClr val="bg1"/>
            </a:solidFill>
            <a:ln>
              <a:noFill/>
            </a:ln>
          </p:spPr>
        </p:sp>
      </p:grpSp>
      <p:sp>
        <p:nvSpPr>
          <p:cNvPr id="2" name="Title Placeholder 1"/>
          <p:cNvSpPr>
            <a:spLocks noGrp="1"/>
          </p:cNvSpPr>
          <p:nvPr>
            <p:ph type="title"/>
          </p:nvPr>
        </p:nvSpPr>
        <p:spPr bwMode="gray">
          <a:xfrm>
            <a:off x="1154954" y="973668"/>
            <a:ext cx="8761413" cy="706964"/>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1154954" y="2603500"/>
            <a:ext cx="8761413" cy="34163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10653104" y="6391838"/>
            <a:ext cx="990599" cy="304799"/>
          </a:xfrm>
          <a:prstGeom prst="rect">
            <a:avLst/>
          </a:prstGeom>
        </p:spPr>
        <p:txBody>
          <a:bodyPr vert="horz" lIns="91440" tIns="45720" rIns="91440" bIns="45720" rtlCol="0" anchor="ctr"/>
          <a:lstStyle>
            <a:lvl1pPr algn="r">
              <a:defRPr sz="1000" b="1" i="0">
                <a:solidFill>
                  <a:schemeClr val="accent1"/>
                </a:solidFill>
              </a:defRPr>
            </a:lvl1pPr>
          </a:lstStyle>
          <a:p>
            <a:fld id="{9E8CEA68-06A2-47B9-94D1-AAE373D38C43}" type="datetimeFigureOut">
              <a:rPr lang="en-IN" smtClean="0"/>
              <a:t>12-12-2025</a:t>
            </a:fld>
            <a:endParaRPr lang="en-IN"/>
          </a:p>
        </p:txBody>
      </p:sp>
      <p:sp>
        <p:nvSpPr>
          <p:cNvPr id="5" name="Footer Placeholder 4"/>
          <p:cNvSpPr>
            <a:spLocks noGrp="1"/>
          </p:cNvSpPr>
          <p:nvPr>
            <p:ph type="ftr" sz="quarter" idx="3"/>
          </p:nvPr>
        </p:nvSpPr>
        <p:spPr>
          <a:xfrm>
            <a:off x="561110" y="6391838"/>
            <a:ext cx="3859795" cy="304801"/>
          </a:xfrm>
          <a:prstGeom prst="rect">
            <a:avLst/>
          </a:prstGeom>
        </p:spPr>
        <p:txBody>
          <a:bodyPr vert="horz" lIns="91440" tIns="45720" rIns="91440" bIns="45720" rtlCol="0" anchor="ctr"/>
          <a:lstStyle>
            <a:lvl1pPr algn="l">
              <a:defRPr sz="1000" b="1" i="0">
                <a:solidFill>
                  <a:schemeClr val="accent1"/>
                </a:solidFill>
              </a:defRPr>
            </a:lvl1pPr>
          </a:lstStyle>
          <a:p>
            <a:endParaRPr lang="en-IN"/>
          </a:p>
        </p:txBody>
      </p:sp>
      <p:sp>
        <p:nvSpPr>
          <p:cNvPr id="21" name="Rectangle 20"/>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bg1"/>
                </a:solidFill>
              </a:defRPr>
            </a:lvl1pPr>
          </a:lstStyle>
          <a:p>
            <a:fld id="{F2F04EB5-BDFB-4E23-A941-C2727F532805}" type="slidenum">
              <a:rPr lang="en-IN" smtClean="0"/>
              <a:t>‹#›</a:t>
            </a:fld>
            <a:endParaRPr lang="en-IN"/>
          </a:p>
        </p:txBody>
      </p:sp>
    </p:spTree>
    <p:extLst>
      <p:ext uri="{BB962C8B-B14F-4D97-AF65-F5344CB8AC3E}">
        <p14:creationId xmlns:p14="http://schemas.microsoft.com/office/powerpoint/2010/main" val="2261219391"/>
      </p:ext>
    </p:extLst>
  </p:cSld>
  <p:clrMap bg1="lt1" tx1="dk1" bg2="lt2" tx2="dk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457200" rtl="0" eaLnBrk="1" latinLnBrk="0" hangingPunct="1">
        <a:spcBef>
          <a:spcPct val="0"/>
        </a:spcBef>
        <a:buNone/>
        <a:defRPr sz="3600" b="0" i="0" kern="1200">
          <a:solidFill>
            <a:schemeClr val="bg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b="0" i="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b="0" i="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b="0" i="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b="0" i="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EFAE-6C44-B2FD-69DF-0AD05F8CD2BE}"/>
              </a:ext>
            </a:extLst>
          </p:cNvPr>
          <p:cNvSpPr>
            <a:spLocks noGrp="1"/>
          </p:cNvSpPr>
          <p:nvPr>
            <p:ph type="ctrTitle"/>
          </p:nvPr>
        </p:nvSpPr>
        <p:spPr>
          <a:xfrm>
            <a:off x="942109" y="757381"/>
            <a:ext cx="10270836" cy="2346037"/>
          </a:xfrm>
        </p:spPr>
        <p:txBody>
          <a:bodyPr>
            <a:normAutofit fontScale="90000"/>
          </a:bodyPr>
          <a:lstStyle/>
          <a:p>
            <a:pPr algn="ctr"/>
            <a:br>
              <a:rPr lang="en-IN" sz="4800" dirty="0">
                <a:latin typeface="Segoe UI" panose="020B0502040204020203" pitchFamily="34" charset="0"/>
                <a:cs typeface="Segoe UI" panose="020B0502040204020203" pitchFamily="34" charset="0"/>
              </a:rPr>
            </a:br>
            <a:br>
              <a:rPr lang="en-IN" sz="4800" dirty="0">
                <a:latin typeface="Segoe UI" panose="020B0502040204020203" pitchFamily="34" charset="0"/>
                <a:cs typeface="Segoe UI" panose="020B0502040204020203" pitchFamily="34" charset="0"/>
              </a:rPr>
            </a:br>
            <a:br>
              <a:rPr lang="en-IN" sz="4800" dirty="0">
                <a:latin typeface="Segoe UI" panose="020B0502040204020203" pitchFamily="34" charset="0"/>
                <a:cs typeface="Segoe UI" panose="020B0502040204020203" pitchFamily="34" charset="0"/>
              </a:rPr>
            </a:br>
            <a:br>
              <a:rPr lang="en-IN" sz="4800" dirty="0">
                <a:latin typeface="Segoe UI" panose="020B0502040204020203" pitchFamily="34" charset="0"/>
                <a:cs typeface="Segoe UI" panose="020B0502040204020203" pitchFamily="34" charset="0"/>
              </a:rPr>
            </a:br>
            <a:r>
              <a:rPr lang="en-IN" sz="4800" dirty="0">
                <a:latin typeface="Segoe UI" panose="020B0502040204020203" pitchFamily="34" charset="0"/>
                <a:cs typeface="Segoe UI" panose="020B0502040204020203" pitchFamily="34" charset="0"/>
              </a:rPr>
              <a:t>  Customer Churn &amp; Retention Analysis</a:t>
            </a:r>
            <a:br>
              <a:rPr lang="en-IN" sz="4800" dirty="0">
                <a:latin typeface="Segoe UI" panose="020B0502040204020203" pitchFamily="34" charset="0"/>
                <a:cs typeface="Segoe UI" panose="020B0502040204020203" pitchFamily="34" charset="0"/>
              </a:rPr>
            </a:br>
            <a:r>
              <a:rPr lang="en-IN" sz="4800" dirty="0">
                <a:latin typeface="Segoe UI" panose="020B0502040204020203" pitchFamily="34" charset="0"/>
                <a:cs typeface="Segoe UI" panose="020B0502040204020203" pitchFamily="34" charset="0"/>
              </a:rPr>
              <a:t>   </a:t>
            </a:r>
            <a:r>
              <a:rPr lang="en-IN" sz="2700" dirty="0">
                <a:latin typeface="Segoe UI" panose="020B0502040204020203" pitchFamily="34" charset="0"/>
                <a:cs typeface="Segoe UI" panose="020B0502040204020203" pitchFamily="34" charset="0"/>
              </a:rPr>
              <a:t>End-to-End Data Analytics Using Python, SQL &amp; Power BI</a:t>
            </a:r>
            <a:br>
              <a:rPr lang="en-IN" sz="4800" dirty="0">
                <a:latin typeface="Segoe UI" panose="020B0502040204020203" pitchFamily="34" charset="0"/>
                <a:cs typeface="Segoe UI" panose="020B0502040204020203" pitchFamily="34" charset="0"/>
              </a:rPr>
            </a:br>
            <a:endParaRPr lang="en-IN" sz="4800" dirty="0">
              <a:latin typeface="Segoe UI" panose="020B0502040204020203" pitchFamily="34" charset="0"/>
              <a:cs typeface="Segoe UI" panose="020B0502040204020203" pitchFamily="34" charset="0"/>
            </a:endParaRPr>
          </a:p>
        </p:txBody>
      </p:sp>
      <p:sp>
        <p:nvSpPr>
          <p:cNvPr id="3" name="Subtitle 2">
            <a:extLst>
              <a:ext uri="{FF2B5EF4-FFF2-40B4-BE49-F238E27FC236}">
                <a16:creationId xmlns:a16="http://schemas.microsoft.com/office/drawing/2014/main" id="{C3FE51C4-5099-DFBF-95E2-8ED4C5D999A5}"/>
              </a:ext>
            </a:extLst>
          </p:cNvPr>
          <p:cNvSpPr>
            <a:spLocks noGrp="1"/>
          </p:cNvSpPr>
          <p:nvPr>
            <p:ph type="subTitle" idx="1"/>
          </p:nvPr>
        </p:nvSpPr>
        <p:spPr>
          <a:xfrm>
            <a:off x="1524000" y="3648364"/>
            <a:ext cx="9144000" cy="2087272"/>
          </a:xfrm>
        </p:spPr>
        <p:txBody>
          <a:bodyPr>
            <a:normAutofit/>
          </a:bodyPr>
          <a:lstStyle/>
          <a:p>
            <a:pPr algn="l"/>
            <a:r>
              <a:rPr lang="en-IN" sz="1800" b="1" dirty="0">
                <a:latin typeface="Segoe UI" panose="020B0502040204020203" pitchFamily="34" charset="0"/>
                <a:cs typeface="Segoe UI" panose="020B0502040204020203" pitchFamily="34" charset="0"/>
              </a:rPr>
              <a:t>Name:</a:t>
            </a:r>
            <a:r>
              <a:rPr lang="en-IN" sz="1800" dirty="0">
                <a:latin typeface="Segoe UI" panose="020B0502040204020203" pitchFamily="34" charset="0"/>
                <a:cs typeface="Segoe UI" panose="020B0502040204020203" pitchFamily="34" charset="0"/>
              </a:rPr>
              <a:t> Majji Prasanth Reddy</a:t>
            </a:r>
            <a:br>
              <a:rPr lang="en-IN" sz="1800" dirty="0">
                <a:latin typeface="Segoe UI" panose="020B0502040204020203" pitchFamily="34" charset="0"/>
                <a:cs typeface="Segoe UI" panose="020B0502040204020203" pitchFamily="34" charset="0"/>
              </a:rPr>
            </a:br>
            <a:r>
              <a:rPr lang="en-IN" sz="1800" b="1" dirty="0">
                <a:latin typeface="Segoe UI" panose="020B0502040204020203" pitchFamily="34" charset="0"/>
                <a:cs typeface="Segoe UI" panose="020B0502040204020203" pitchFamily="34" charset="0"/>
              </a:rPr>
              <a:t>Tools used:</a:t>
            </a:r>
            <a:r>
              <a:rPr lang="en-IN" sz="1800" dirty="0">
                <a:latin typeface="Segoe UI" panose="020B0502040204020203" pitchFamily="34" charset="0"/>
                <a:cs typeface="Segoe UI" panose="020B0502040204020203" pitchFamily="34" charset="0"/>
              </a:rPr>
              <a:t> Python, MySQL, Power BI </a:t>
            </a:r>
          </a:p>
        </p:txBody>
      </p:sp>
    </p:spTree>
    <p:extLst>
      <p:ext uri="{BB962C8B-B14F-4D97-AF65-F5344CB8AC3E}">
        <p14:creationId xmlns:p14="http://schemas.microsoft.com/office/powerpoint/2010/main" val="3527914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latin typeface="Segoe UI" panose="020B0502040204020203" pitchFamily="34" charset="0"/>
                <a:cs typeface="Segoe UI" panose="020B0502040204020203" pitchFamily="34" charset="0"/>
              </a:rPr>
              <a:t>Problem Statement</a:t>
            </a:r>
            <a:br>
              <a:rPr lang="en-US"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2" y="2918690"/>
            <a:ext cx="11222182" cy="3101109"/>
          </a:xfrm>
        </p:spPr>
        <p:txBody>
          <a:bodyPr/>
          <a:lstStyle/>
          <a:p>
            <a:pPr marL="0" indent="0" algn="just">
              <a:buNone/>
            </a:pPr>
            <a:r>
              <a:rPr lang="en-US" dirty="0">
                <a:latin typeface="Segoe UI" panose="020B0502040204020203" pitchFamily="34" charset="0"/>
                <a:cs typeface="Segoe UI" panose="020B0502040204020203" pitchFamily="34" charset="0"/>
              </a:rPr>
              <a:t>The business is experiencing inconsistent revenue due to declining customer retention and limited visibility into which customers are likely to churn. Without a structured understanding of purchasing behavior, customer value, and early-warning indicators, the organization cannot effectively prioritize retention efforts or allocate marketing resources. This project aims to analyze customer transactions, segment customers based on behavioral patterns, predict churn risk using machine learning, and provide data-driven strategies to improve customer loyalty and protect revenue.</a:t>
            </a:r>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1850034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IN" b="1" dirty="0">
                <a:latin typeface="Segoe UI" panose="020B0502040204020203" pitchFamily="34" charset="0"/>
                <a:cs typeface="Segoe UI" panose="020B0502040204020203" pitchFamily="34" charset="0"/>
              </a:rPr>
              <a:t>Dataset Overview</a:t>
            </a:r>
            <a:br>
              <a:rPr lang="en-IN"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1" y="2603500"/>
            <a:ext cx="11296073" cy="3416300"/>
          </a:xfrm>
        </p:spPr>
        <p:txBody>
          <a:bodyPr>
            <a:normAutofit/>
          </a:bodyPr>
          <a:lstStyle/>
          <a:p>
            <a:pPr marL="0" indent="0">
              <a:lnSpc>
                <a:spcPct val="107000"/>
              </a:lnSpc>
              <a:spcAft>
                <a:spcPts val="800"/>
              </a:spcAft>
              <a:buNone/>
            </a:pPr>
            <a:r>
              <a:rPr lang="en-US" sz="1800" b="1" dirty="0">
                <a:latin typeface="Segoe UI" panose="020B0502040204020203" pitchFamily="34" charset="0"/>
                <a:cs typeface="Segoe UI" panose="020B0502040204020203" pitchFamily="34" charset="0"/>
              </a:rPr>
              <a:t>Source:</a:t>
            </a:r>
            <a:r>
              <a:rPr lang="en-US" sz="1800" dirty="0">
                <a:latin typeface="Segoe UI" panose="020B0502040204020203" pitchFamily="34" charset="0"/>
                <a:cs typeface="Segoe UI" panose="020B0502040204020203" pitchFamily="34" charset="0"/>
              </a:rPr>
              <a:t> Online Retail Dataset (Kaggle)</a:t>
            </a:r>
            <a:br>
              <a:rPr lang="en-US" sz="1800" dirty="0">
                <a:latin typeface="Segoe UI" panose="020B0502040204020203" pitchFamily="34" charset="0"/>
                <a:cs typeface="Segoe UI" panose="020B0502040204020203" pitchFamily="34" charset="0"/>
              </a:rPr>
            </a:br>
            <a:r>
              <a:rPr lang="en-US" sz="1800" b="1" dirty="0">
                <a:latin typeface="Segoe UI" panose="020B0502040204020203" pitchFamily="34" charset="0"/>
                <a:cs typeface="Segoe UI" panose="020B0502040204020203" pitchFamily="34" charset="0"/>
              </a:rPr>
              <a:t>Tables Used: </a:t>
            </a:r>
            <a:r>
              <a:rPr lang="en-US" sz="1800" dirty="0">
                <a:latin typeface="Segoe UI" panose="020B0502040204020203" pitchFamily="34" charset="0"/>
                <a:cs typeface="Segoe UI" panose="020B0502040204020203" pitchFamily="34" charset="0"/>
              </a:rPr>
              <a:t>E-Commerce Data(~500K rows)</a:t>
            </a:r>
            <a:br>
              <a:rPr lang="en-US" sz="1800" dirty="0">
                <a:latin typeface="Segoe UI" panose="020B0502040204020203" pitchFamily="34" charset="0"/>
                <a:cs typeface="Segoe UI" panose="020B0502040204020203" pitchFamily="34" charset="0"/>
              </a:rPr>
            </a:br>
            <a:r>
              <a:rPr lang="en-US" sz="1800" b="1" dirty="0">
                <a:latin typeface="Segoe UI" panose="020B0502040204020203" pitchFamily="34" charset="0"/>
                <a:cs typeface="Segoe UI" panose="020B0502040204020203" pitchFamily="34" charset="0"/>
              </a:rPr>
              <a:t>Key Fields:</a:t>
            </a:r>
            <a:r>
              <a:rPr lang="en-US" sz="1800" dirty="0">
                <a:latin typeface="Segoe UI" panose="020B0502040204020203" pitchFamily="34" charset="0"/>
                <a:cs typeface="Segoe UI" panose="020B0502040204020203" pitchFamily="34" charset="0"/>
              </a:rPr>
              <a:t> </a:t>
            </a:r>
            <a:r>
              <a:rPr lang="en-IN" sz="1800" dirty="0">
                <a:effectLst/>
                <a:latin typeface="Segoe UI" panose="020B0502040204020203" pitchFamily="34" charset="0"/>
                <a:ea typeface="Calibri" panose="020F0502020204030204" pitchFamily="34" charset="0"/>
                <a:cs typeface="Segoe UI" panose="020B0502040204020203" pitchFamily="34" charset="0"/>
              </a:rPr>
              <a:t>InvoiceNo, StockCode, Description, Quantity, InvoiceDate, UnitPrice, CustomerID, Country</a:t>
            </a:r>
            <a:br>
              <a:rPr lang="en-US" sz="1800" dirty="0">
                <a:latin typeface="Segoe UI" panose="020B0502040204020203" pitchFamily="34" charset="0"/>
                <a:cs typeface="Segoe UI" panose="020B0502040204020203" pitchFamily="34" charset="0"/>
              </a:rPr>
            </a:br>
            <a:r>
              <a:rPr lang="en-US" sz="1800" b="1" dirty="0">
                <a:latin typeface="Segoe UI" panose="020B0502040204020203" pitchFamily="34" charset="0"/>
                <a:cs typeface="Segoe UI" panose="020B0502040204020203" pitchFamily="34" charset="0"/>
              </a:rPr>
              <a:t>Tools Used:</a:t>
            </a:r>
            <a:r>
              <a:rPr lang="en-US" sz="1800" dirty="0">
                <a:latin typeface="Segoe UI" panose="020B0502040204020203" pitchFamily="34" charset="0"/>
                <a:cs typeface="Segoe UI" panose="020B0502040204020203" pitchFamily="34" charset="0"/>
              </a:rPr>
              <a:t> Python, SQL and Power BI</a:t>
            </a:r>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249025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IN" b="1" dirty="0">
                <a:latin typeface="Segoe UI" panose="020B0502040204020203" pitchFamily="34" charset="0"/>
                <a:cs typeface="Segoe UI" panose="020B0502040204020203" pitchFamily="34" charset="0"/>
              </a:rPr>
              <a:t>Project Workflow</a:t>
            </a:r>
            <a:br>
              <a:rPr lang="en-IN"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508000" y="2603500"/>
            <a:ext cx="11231418" cy="3416300"/>
          </a:xfrm>
        </p:spPr>
        <p:txBody>
          <a:bodyPr>
            <a:normAutofit/>
          </a:bodyPr>
          <a:lstStyle/>
          <a:p>
            <a:pPr marL="0" indent="0" algn="ctr">
              <a:lnSpc>
                <a:spcPct val="150000"/>
              </a:lnSpc>
              <a:buNone/>
            </a:pPr>
            <a:r>
              <a:rPr lang="en-IN" sz="1800" b="1" dirty="0">
                <a:latin typeface="Segoe UI" panose="020B0502040204020203" pitchFamily="34" charset="0"/>
                <a:cs typeface="Segoe UI" panose="020B0502040204020203" pitchFamily="34" charset="0"/>
              </a:rPr>
              <a:t>Data Extraction → Data Cleaning → SQL Analytics → RFM Segmentation → Cohorts → ML Model → Dashboard → Insights &amp; Actions</a:t>
            </a:r>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1331126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latin typeface="Segoe UI" panose="020B0502040204020203" pitchFamily="34" charset="0"/>
                <a:cs typeface="Segoe UI" panose="020B0502040204020203" pitchFamily="34" charset="0"/>
              </a:rPr>
              <a:t>Data Cleaning &amp; Processing</a:t>
            </a:r>
            <a:br>
              <a:rPr lang="en-US"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9528" y="2603500"/>
            <a:ext cx="11249890" cy="3416300"/>
          </a:xfrm>
        </p:spPr>
        <p:txBody>
          <a:bodyPr/>
          <a:lstStyle/>
          <a:p>
            <a:pPr>
              <a:buFont typeface="Arial" panose="020B0604020202020204" pitchFamily="34" charset="0"/>
              <a:buChar char="•"/>
            </a:pPr>
            <a:r>
              <a:rPr lang="en-US" sz="1800" dirty="0">
                <a:latin typeface="Segoe UI" panose="020B0502040204020203" pitchFamily="34" charset="0"/>
                <a:cs typeface="Segoe UI" panose="020B0502040204020203" pitchFamily="34" charset="0"/>
              </a:rPr>
              <a:t>Removed null Customer IDs</a:t>
            </a:r>
          </a:p>
          <a:p>
            <a:pPr>
              <a:buFont typeface="Arial" panose="020B0604020202020204" pitchFamily="34" charset="0"/>
              <a:buChar char="•"/>
            </a:pPr>
            <a:r>
              <a:rPr lang="en-US" sz="1800" dirty="0">
                <a:latin typeface="Segoe UI" panose="020B0502040204020203" pitchFamily="34" charset="0"/>
                <a:cs typeface="Segoe UI" panose="020B0502040204020203" pitchFamily="34" charset="0"/>
              </a:rPr>
              <a:t>Removed negative quantity rows</a:t>
            </a:r>
          </a:p>
          <a:p>
            <a:pPr>
              <a:buFont typeface="Arial" panose="020B0604020202020204" pitchFamily="34" charset="0"/>
              <a:buChar char="•"/>
            </a:pPr>
            <a:r>
              <a:rPr lang="en-US" sz="1800" dirty="0">
                <a:latin typeface="Segoe UI" panose="020B0502040204020203" pitchFamily="34" charset="0"/>
                <a:cs typeface="Segoe UI" panose="020B0502040204020203" pitchFamily="34" charset="0"/>
              </a:rPr>
              <a:t>Created Total Amount column</a:t>
            </a:r>
          </a:p>
          <a:p>
            <a:pPr>
              <a:buFont typeface="Arial" panose="020B0604020202020204" pitchFamily="34" charset="0"/>
              <a:buChar char="•"/>
            </a:pPr>
            <a:r>
              <a:rPr lang="en-US" sz="1800" dirty="0">
                <a:latin typeface="Segoe UI" panose="020B0502040204020203" pitchFamily="34" charset="0"/>
                <a:cs typeface="Segoe UI" panose="020B0502040204020203" pitchFamily="34" charset="0"/>
              </a:rPr>
              <a:t>Built Customer Summary Table (orders, revenue, recency, frequency, monetary)</a:t>
            </a:r>
          </a:p>
        </p:txBody>
      </p:sp>
    </p:spTree>
    <p:extLst>
      <p:ext uri="{BB962C8B-B14F-4D97-AF65-F5344CB8AC3E}">
        <p14:creationId xmlns:p14="http://schemas.microsoft.com/office/powerpoint/2010/main" val="42253510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latin typeface="Segoe UI" panose="020B0502040204020203" pitchFamily="34" charset="0"/>
                <a:cs typeface="Segoe UI" panose="020B0502040204020203" pitchFamily="34" charset="0"/>
              </a:rPr>
              <a:t>Data Analysis using SQL</a:t>
            </a:r>
            <a:br>
              <a:rPr lang="en-US"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526473" y="2603500"/>
            <a:ext cx="11166763" cy="3416300"/>
          </a:xfrm>
        </p:spPr>
        <p:txBody>
          <a:bodyPr>
            <a:normAutofit/>
          </a:bodyPr>
          <a:lstStyle/>
          <a:p>
            <a:pPr marL="0" indent="0">
              <a:buNone/>
            </a:pPr>
            <a:r>
              <a:rPr lang="en-IN" sz="1800" dirty="0">
                <a:effectLst/>
                <a:latin typeface="Segoe UI" panose="020B0502040204020203" pitchFamily="34" charset="0"/>
                <a:ea typeface="Calibri" panose="020F0502020204030204" pitchFamily="34" charset="0"/>
                <a:cs typeface="Segoe UI" panose="020B0502040204020203" pitchFamily="34" charset="0"/>
              </a:rPr>
              <a:t>         What is the average order value across all transactions?</a:t>
            </a:r>
            <a:endParaRPr lang="en-IN" sz="1800" dirty="0">
              <a:latin typeface="Segoe UI" panose="020B0502040204020203" pitchFamily="34" charset="0"/>
              <a:cs typeface="Segoe UI" panose="020B0502040204020203" pitchFamily="34" charset="0"/>
            </a:endParaRPr>
          </a:p>
        </p:txBody>
      </p:sp>
      <p:pic>
        <p:nvPicPr>
          <p:cNvPr id="4" name="Picture 3" descr="A screenshot of a computer&#10;&#10;AI-generated content may be incorrect.">
            <a:extLst>
              <a:ext uri="{FF2B5EF4-FFF2-40B4-BE49-F238E27FC236}">
                <a16:creationId xmlns:a16="http://schemas.microsoft.com/office/drawing/2014/main" id="{E5B77BF2-3A85-10B5-B142-921848252F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4473" y="3094182"/>
            <a:ext cx="6554142" cy="2253673"/>
          </a:xfrm>
          <a:prstGeom prst="rect">
            <a:avLst/>
          </a:prstGeom>
        </p:spPr>
      </p:pic>
    </p:spTree>
    <p:extLst>
      <p:ext uri="{BB962C8B-B14F-4D97-AF65-F5344CB8AC3E}">
        <p14:creationId xmlns:p14="http://schemas.microsoft.com/office/powerpoint/2010/main" val="26027682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latin typeface="Segoe UI" panose="020B0502040204020203" pitchFamily="34" charset="0"/>
                <a:cs typeface="Segoe UI" panose="020B0502040204020203" pitchFamily="34" charset="0"/>
              </a:rPr>
              <a:t>Data Analysis using SQL</a:t>
            </a:r>
            <a:br>
              <a:rPr lang="en-US"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526473" y="2603500"/>
            <a:ext cx="11166763" cy="3416300"/>
          </a:xfrm>
        </p:spPr>
        <p:txBody>
          <a:bodyPr>
            <a:normAutofit/>
          </a:bodyPr>
          <a:lstStyle/>
          <a:p>
            <a:pPr marL="0" indent="0">
              <a:buNone/>
            </a:pPr>
            <a:r>
              <a:rPr lang="en-IN" sz="1800" dirty="0">
                <a:effectLst/>
                <a:latin typeface="Segoe UI" panose="020B0502040204020203" pitchFamily="34" charset="0"/>
                <a:ea typeface="Calibri" panose="020F0502020204030204" pitchFamily="34" charset="0"/>
                <a:cs typeface="Segoe UI" panose="020B0502040204020203" pitchFamily="34" charset="0"/>
              </a:rPr>
              <a:t>         What percentage of customers purchase more than once?</a:t>
            </a:r>
            <a:endParaRPr lang="en-IN" sz="1800" dirty="0">
              <a:latin typeface="Segoe UI" panose="020B0502040204020203" pitchFamily="34" charset="0"/>
              <a:cs typeface="Segoe UI" panose="020B0502040204020203"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E46C8609-71DB-F6C2-E95D-68377A052BF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53" y="3131128"/>
            <a:ext cx="6529701" cy="2068946"/>
          </a:xfrm>
          <a:prstGeom prst="rect">
            <a:avLst/>
          </a:prstGeom>
        </p:spPr>
      </p:pic>
    </p:spTree>
    <p:extLst>
      <p:ext uri="{BB962C8B-B14F-4D97-AF65-F5344CB8AC3E}">
        <p14:creationId xmlns:p14="http://schemas.microsoft.com/office/powerpoint/2010/main" val="2877316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latin typeface="Segoe UI" panose="020B0502040204020203" pitchFamily="34" charset="0"/>
                <a:cs typeface="Segoe UI" panose="020B0502040204020203" pitchFamily="34" charset="0"/>
              </a:rPr>
              <a:t>Data Analysis using SQL</a:t>
            </a:r>
            <a:br>
              <a:rPr lang="en-US"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526473" y="2603500"/>
            <a:ext cx="11166763" cy="3416300"/>
          </a:xfrm>
        </p:spPr>
        <p:txBody>
          <a:bodyPr>
            <a:normAutofit/>
          </a:bodyPr>
          <a:lstStyle/>
          <a:p>
            <a:pPr marL="0" indent="0">
              <a:buNone/>
            </a:pPr>
            <a:r>
              <a:rPr lang="en-IN" sz="1800" dirty="0">
                <a:effectLst/>
                <a:latin typeface="Segoe UI" panose="020B0502040204020203" pitchFamily="34" charset="0"/>
                <a:ea typeface="Calibri" panose="020F0502020204030204" pitchFamily="34" charset="0"/>
                <a:cs typeface="Segoe UI" panose="020B0502040204020203" pitchFamily="34" charset="0"/>
              </a:rPr>
              <a:t>         </a:t>
            </a:r>
            <a:r>
              <a:rPr lang="en-IN" sz="1800" kern="100" dirty="0">
                <a:effectLst/>
                <a:latin typeface="Segoe UI" panose="020B0502040204020203" pitchFamily="34" charset="0"/>
                <a:ea typeface="Calibri" panose="020F0502020204030204" pitchFamily="34" charset="0"/>
                <a:cs typeface="Segoe UI" panose="020B0502040204020203" pitchFamily="34" charset="0"/>
              </a:rPr>
              <a:t>What percentage of customers are churned (inactive for &gt; 90 days)?</a:t>
            </a:r>
          </a:p>
          <a:p>
            <a:pPr marL="0" indent="0">
              <a:buNone/>
            </a:pPr>
            <a:endParaRPr lang="en-IN" sz="1800"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5A24BFBE-B048-876C-9679-20517D2049C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54954" y="3111672"/>
            <a:ext cx="7028464" cy="2319309"/>
          </a:xfrm>
          <a:prstGeom prst="rect">
            <a:avLst/>
          </a:prstGeom>
        </p:spPr>
      </p:pic>
    </p:spTree>
    <p:extLst>
      <p:ext uri="{BB962C8B-B14F-4D97-AF65-F5344CB8AC3E}">
        <p14:creationId xmlns:p14="http://schemas.microsoft.com/office/powerpoint/2010/main" val="23193180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latin typeface="Segoe UI" panose="020B0502040204020203" pitchFamily="34" charset="0"/>
                <a:cs typeface="Segoe UI" panose="020B0502040204020203" pitchFamily="34" charset="0"/>
              </a:rPr>
              <a:t>RFM Segmentation </a:t>
            </a:r>
            <a:br>
              <a:rPr lang="en-US" b="1" dirty="0">
                <a:latin typeface="Segoe UI" panose="020B0502040204020203" pitchFamily="34" charset="0"/>
                <a:cs typeface="Segoe UI" panose="020B0502040204020203" pitchFamily="34" charset="0"/>
              </a:rPr>
            </a:br>
            <a:endParaRPr lang="en-IN"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43345" y="2466109"/>
            <a:ext cx="11323781" cy="4202546"/>
          </a:xfrm>
        </p:spPr>
        <p:txBody>
          <a:bodyPr>
            <a:normAutofit/>
          </a:bodyPr>
          <a:lstStyle/>
          <a:p>
            <a:pPr marL="0" indent="0">
              <a:buNone/>
            </a:pPr>
            <a:r>
              <a:rPr lang="en-IN" sz="1800" kern="100" dirty="0">
                <a:effectLst/>
                <a:latin typeface="Segoe UI" panose="020B0502040204020203" pitchFamily="34" charset="0"/>
                <a:ea typeface="Calibri" panose="020F0502020204030204" pitchFamily="34" charset="0"/>
                <a:cs typeface="Segoe UI" panose="020B0502040204020203" pitchFamily="34" charset="0"/>
              </a:rPr>
              <a:t>                                    Revenue Generated by RFM Segments</a:t>
            </a:r>
            <a:endParaRPr lang="en-US" sz="1800" dirty="0"/>
          </a:p>
          <a:p>
            <a:pPr marL="0" indent="0">
              <a:buNone/>
            </a:pPr>
            <a:endParaRPr lang="en-IN" sz="1800" kern="100" dirty="0">
              <a:effectLst/>
              <a:latin typeface="Segoe UI" panose="020B0502040204020203" pitchFamily="34" charset="0"/>
              <a:ea typeface="Calibri" panose="020F0502020204030204"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pPr marL="0" indent="0">
              <a:buNone/>
            </a:pPr>
            <a:endParaRPr lang="en-US" dirty="0">
              <a:latin typeface="Segoe UI" panose="020B0502040204020203" pitchFamily="34" charset="0"/>
              <a:cs typeface="Segoe UI" panose="020B0502040204020203" pitchFamily="34" charset="0"/>
            </a:endParaRPr>
          </a:p>
          <a:p>
            <a:pPr marL="0" indent="0">
              <a:buNone/>
            </a:pPr>
            <a:endParaRPr lang="en-US" sz="1800" dirty="0">
              <a:latin typeface="Segoe UI" panose="020B0502040204020203" pitchFamily="34" charset="0"/>
              <a:cs typeface="Segoe UI" panose="020B0502040204020203" pitchFamily="34" charset="0"/>
            </a:endParaRPr>
          </a:p>
          <a:p>
            <a:endParaRPr lang="en-IN" sz="1800"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D4B69A5A-0573-6C83-8314-C1B8C8299B1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76945" y="2955636"/>
            <a:ext cx="6363855" cy="3713019"/>
          </a:xfrm>
          <a:prstGeom prst="rect">
            <a:avLst/>
          </a:prstGeom>
        </p:spPr>
      </p:pic>
    </p:spTree>
    <p:extLst>
      <p:ext uri="{BB962C8B-B14F-4D97-AF65-F5344CB8AC3E}">
        <p14:creationId xmlns:p14="http://schemas.microsoft.com/office/powerpoint/2010/main" val="3372711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a:xfrm>
            <a:off x="147782" y="535710"/>
            <a:ext cx="11693236" cy="1256146"/>
          </a:xfrm>
        </p:spPr>
        <p:txBody>
          <a:bodyPr>
            <a:normAutofit fontScale="90000"/>
          </a:bodyPr>
          <a:lstStyle/>
          <a:p>
            <a:pPr algn="ctr"/>
            <a:br>
              <a:rPr lang="en-US" b="1" dirty="0"/>
            </a:br>
            <a:br>
              <a:rPr lang="en-US" b="1" dirty="0"/>
            </a:br>
            <a:br>
              <a:rPr lang="en-US" b="1" dirty="0"/>
            </a:br>
            <a:r>
              <a:rPr lang="en-US" b="1" dirty="0">
                <a:latin typeface="Segoe UI" panose="020B0502040204020203" pitchFamily="34" charset="0"/>
                <a:cs typeface="Segoe UI" panose="020B0502040204020203" pitchFamily="34" charset="0"/>
              </a:rPr>
              <a:t>Cohort Analysis</a:t>
            </a:r>
            <a:br>
              <a:rPr lang="en-US" b="1" dirty="0">
                <a:latin typeface="Segoe UI" panose="020B0502040204020203" pitchFamily="34" charset="0"/>
                <a:cs typeface="Segoe UI" panose="020B0502040204020203" pitchFamily="34" charset="0"/>
              </a:rPr>
            </a:br>
            <a:br>
              <a:rPr lang="en-US" b="1" dirty="0"/>
            </a:br>
            <a:r>
              <a:rPr lang="en-US" b="1" dirty="0"/>
              <a:t>                                                             </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1" y="2447636"/>
            <a:ext cx="11259127" cy="4239491"/>
          </a:xfrm>
        </p:spPr>
        <p:txBody>
          <a:bodyPr>
            <a:normAutofit/>
          </a:bodyPr>
          <a:lstStyle/>
          <a:p>
            <a:pPr marL="0" indent="0">
              <a:buNone/>
            </a:pPr>
            <a:r>
              <a:rPr lang="en-IN" sz="1800" kern="100" dirty="0">
                <a:effectLst/>
                <a:latin typeface="Arial" panose="020B0604020202020204" pitchFamily="34" charset="0"/>
                <a:ea typeface="Calibri" panose="020F0502020204030204" pitchFamily="34" charset="0"/>
                <a:cs typeface="Times New Roman" panose="02020603050405020304" pitchFamily="18" charset="0"/>
              </a:rPr>
              <a:t>        How does recent cohort retention (0–2 months) compare with older cohorts?</a:t>
            </a:r>
            <a:endParaRPr lang="en-IN" sz="1800" kern="1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IN" sz="1800" dirty="0"/>
          </a:p>
        </p:txBody>
      </p:sp>
      <p:pic>
        <p:nvPicPr>
          <p:cNvPr id="4" name="Picture 3">
            <a:extLst>
              <a:ext uri="{FF2B5EF4-FFF2-40B4-BE49-F238E27FC236}">
                <a16:creationId xmlns:a16="http://schemas.microsoft.com/office/drawing/2014/main" id="{7795BE60-9627-6D38-BBDA-A01144467C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32624" y="3045878"/>
            <a:ext cx="7427884" cy="3043006"/>
          </a:xfrm>
          <a:prstGeom prst="rect">
            <a:avLst/>
          </a:prstGeom>
        </p:spPr>
      </p:pic>
    </p:spTree>
    <p:extLst>
      <p:ext uri="{BB962C8B-B14F-4D97-AF65-F5344CB8AC3E}">
        <p14:creationId xmlns:p14="http://schemas.microsoft.com/office/powerpoint/2010/main" val="582682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a:xfrm>
            <a:off x="147782" y="535710"/>
            <a:ext cx="11693236" cy="1256146"/>
          </a:xfrm>
        </p:spPr>
        <p:txBody>
          <a:bodyPr>
            <a:normAutofit fontScale="90000"/>
          </a:bodyPr>
          <a:lstStyle/>
          <a:p>
            <a:pPr algn="ctr"/>
            <a:br>
              <a:rPr lang="en-US" b="1" dirty="0"/>
            </a:br>
            <a:br>
              <a:rPr lang="en-US" b="1" dirty="0"/>
            </a:br>
            <a:br>
              <a:rPr lang="en-US" b="1" dirty="0"/>
            </a:br>
            <a:r>
              <a:rPr lang="en-US" b="1" dirty="0">
                <a:latin typeface="Segoe UI" panose="020B0502040204020203" pitchFamily="34" charset="0"/>
                <a:cs typeface="Segoe UI" panose="020B0502040204020203" pitchFamily="34" charset="0"/>
              </a:rPr>
              <a:t>Cohort Analysis</a:t>
            </a:r>
            <a:br>
              <a:rPr lang="en-US" b="1" dirty="0">
                <a:latin typeface="Segoe UI" panose="020B0502040204020203" pitchFamily="34" charset="0"/>
                <a:cs typeface="Segoe UI" panose="020B0502040204020203" pitchFamily="34" charset="0"/>
              </a:rPr>
            </a:br>
            <a:br>
              <a:rPr lang="en-US" b="1" dirty="0"/>
            </a:br>
            <a:r>
              <a:rPr lang="en-US" b="1" dirty="0"/>
              <a:t>                                                             </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1" y="2299854"/>
            <a:ext cx="11259127" cy="4480559"/>
          </a:xfrm>
        </p:spPr>
        <p:txBody>
          <a:bodyPr>
            <a:normAutofit/>
          </a:bodyPr>
          <a:lstStyle/>
          <a:p>
            <a:pPr marL="0" lvl="0" indent="0">
              <a:lnSpc>
                <a:spcPct val="107000"/>
              </a:lnSpc>
              <a:spcAft>
                <a:spcPts val="800"/>
              </a:spcAft>
              <a:buNone/>
            </a:pPr>
            <a:r>
              <a:rPr lang="en-IN" kern="100" dirty="0">
                <a:latin typeface="Segoe UI" panose="020B0502040204020203" pitchFamily="34" charset="0"/>
                <a:ea typeface="Calibri" panose="020F0502020204030204" pitchFamily="34" charset="0"/>
                <a:cs typeface="Segoe UI" panose="020B0502040204020203" pitchFamily="34" charset="0"/>
              </a:rPr>
              <a:t>   </a:t>
            </a:r>
            <a:r>
              <a:rPr lang="en-IN" sz="1800" kern="100" dirty="0">
                <a:effectLst/>
                <a:latin typeface="Segoe UI" panose="020B0502040204020203" pitchFamily="34" charset="0"/>
                <a:ea typeface="Calibri" panose="020F0502020204030204" pitchFamily="34" charset="0"/>
                <a:cs typeface="Segoe UI" panose="020B0502040204020203" pitchFamily="34" charset="0"/>
              </a:rPr>
              <a:t>     What is the month-over-month retention rate for each customer cohort?</a:t>
            </a:r>
          </a:p>
          <a:p>
            <a:pPr marL="0" indent="0">
              <a:buNone/>
            </a:pPr>
            <a:endParaRPr lang="en-IN" sz="1800" dirty="0">
              <a:latin typeface="Segoe UI" panose="020B0502040204020203" pitchFamily="34" charset="0"/>
              <a:cs typeface="Segoe UI" panose="020B0502040204020203"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E425B7E7-DB23-DFC2-7B07-FE16054CD48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70536" y="2844799"/>
            <a:ext cx="5731510" cy="3713019"/>
          </a:xfrm>
          <a:prstGeom prst="rect">
            <a:avLst/>
          </a:prstGeom>
        </p:spPr>
      </p:pic>
    </p:spTree>
    <p:extLst>
      <p:ext uri="{BB962C8B-B14F-4D97-AF65-F5344CB8AC3E}">
        <p14:creationId xmlns:p14="http://schemas.microsoft.com/office/powerpoint/2010/main" val="8245001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a:xfrm>
            <a:off x="147782" y="535710"/>
            <a:ext cx="11693236" cy="1256146"/>
          </a:xfrm>
        </p:spPr>
        <p:txBody>
          <a:bodyPr>
            <a:normAutofit fontScale="90000"/>
          </a:bodyPr>
          <a:lstStyle/>
          <a:p>
            <a:pPr algn="ctr"/>
            <a:br>
              <a:rPr lang="en-US" b="1" dirty="0"/>
            </a:br>
            <a:br>
              <a:rPr lang="en-US" b="1" dirty="0"/>
            </a:br>
            <a:br>
              <a:rPr lang="en-US" b="1" dirty="0"/>
            </a:br>
            <a:r>
              <a:rPr lang="en-US" b="1" dirty="0">
                <a:latin typeface="Segoe UI" panose="020B0502040204020203" pitchFamily="34" charset="0"/>
                <a:cs typeface="Segoe UI" panose="020B0502040204020203" pitchFamily="34" charset="0"/>
              </a:rPr>
              <a:t>Cohort Analysis</a:t>
            </a:r>
            <a:br>
              <a:rPr lang="en-US" b="1" dirty="0">
                <a:latin typeface="Segoe UI" panose="020B0502040204020203" pitchFamily="34" charset="0"/>
                <a:cs typeface="Segoe UI" panose="020B0502040204020203" pitchFamily="34" charset="0"/>
              </a:rPr>
            </a:br>
            <a:br>
              <a:rPr lang="en-US" b="1" dirty="0"/>
            </a:br>
            <a:r>
              <a:rPr lang="en-US" b="1" dirty="0"/>
              <a:t>                                                             </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1" y="2299854"/>
            <a:ext cx="11259127" cy="4480559"/>
          </a:xfrm>
        </p:spPr>
        <p:txBody>
          <a:bodyPr>
            <a:normAutofit/>
          </a:bodyPr>
          <a:lstStyle/>
          <a:p>
            <a:pPr marL="0" indent="0">
              <a:lnSpc>
                <a:spcPct val="107000"/>
              </a:lnSpc>
              <a:spcAft>
                <a:spcPts val="800"/>
              </a:spcAft>
              <a:buNone/>
            </a:pPr>
            <a:r>
              <a:rPr lang="en-IN" kern="100" dirty="0">
                <a:latin typeface="Segoe UI" panose="020B0502040204020203" pitchFamily="34" charset="0"/>
                <a:ea typeface="Calibri" panose="020F0502020204030204" pitchFamily="34" charset="0"/>
                <a:cs typeface="Segoe UI" panose="020B0502040204020203" pitchFamily="34" charset="0"/>
              </a:rPr>
              <a:t>   </a:t>
            </a:r>
            <a:r>
              <a:rPr lang="en-IN" sz="1800" kern="100" dirty="0">
                <a:effectLst/>
                <a:latin typeface="Segoe UI" panose="020B0502040204020203" pitchFamily="34" charset="0"/>
                <a:ea typeface="Calibri" panose="020F0502020204030204" pitchFamily="34" charset="0"/>
                <a:cs typeface="Segoe UI" panose="020B0502040204020203" pitchFamily="34" charset="0"/>
              </a:rPr>
              <a:t>     How many customers remain active in each cohort month over time?</a:t>
            </a:r>
          </a:p>
          <a:p>
            <a:pPr marL="0" indent="0">
              <a:lnSpc>
                <a:spcPct val="107000"/>
              </a:lnSpc>
              <a:spcAft>
                <a:spcPts val="800"/>
              </a:spcAft>
              <a:buNone/>
            </a:pPr>
            <a:endParaRPr lang="en-IN" sz="1800" kern="100" dirty="0">
              <a:effectLst/>
              <a:latin typeface="Segoe UI" panose="020B0502040204020203" pitchFamily="34" charset="0"/>
              <a:ea typeface="Calibri" panose="020F0502020204030204" pitchFamily="34" charset="0"/>
              <a:cs typeface="Segoe UI" panose="020B0502040204020203" pitchFamily="34" charset="0"/>
            </a:endParaRPr>
          </a:p>
          <a:p>
            <a:pPr marL="0" lvl="0" indent="0">
              <a:lnSpc>
                <a:spcPct val="107000"/>
              </a:lnSpc>
              <a:spcAft>
                <a:spcPts val="800"/>
              </a:spcAft>
              <a:buNone/>
            </a:pPr>
            <a:endParaRPr lang="en-IN" sz="1800"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EEE57194-96D7-61E2-4E2F-829B840A71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44097" y="2837873"/>
            <a:ext cx="7316412" cy="3657600"/>
          </a:xfrm>
          <a:prstGeom prst="rect">
            <a:avLst/>
          </a:prstGeom>
        </p:spPr>
      </p:pic>
    </p:spTree>
    <p:extLst>
      <p:ext uri="{BB962C8B-B14F-4D97-AF65-F5344CB8AC3E}">
        <p14:creationId xmlns:p14="http://schemas.microsoft.com/office/powerpoint/2010/main" val="4264202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a:xfrm>
            <a:off x="147782" y="535710"/>
            <a:ext cx="11693236" cy="1117599"/>
          </a:xfrm>
        </p:spPr>
        <p:txBody>
          <a:bodyPr>
            <a:normAutofit fontScale="90000"/>
          </a:bodyPr>
          <a:lstStyle/>
          <a:p>
            <a:pPr algn="ctr"/>
            <a:br>
              <a:rPr lang="en-US" b="1" dirty="0"/>
            </a:br>
            <a:br>
              <a:rPr lang="en-US" b="1" dirty="0"/>
            </a:br>
            <a:br>
              <a:rPr lang="en-US" b="1" dirty="0"/>
            </a:br>
            <a:r>
              <a:rPr lang="en-IN" b="1" dirty="0">
                <a:effectLst/>
                <a:latin typeface="Segoe UI" panose="020B0502040204020203" pitchFamily="34" charset="0"/>
                <a:ea typeface="Calibri" panose="020F0502020204030204" pitchFamily="34" charset="0"/>
                <a:cs typeface="Segoe UI" panose="020B0502040204020203" pitchFamily="34" charset="0"/>
              </a:rPr>
              <a:t>At-Risk &amp; Lost Customers</a:t>
            </a:r>
            <a:br>
              <a:rPr lang="en-US" b="1" dirty="0"/>
            </a:br>
            <a:r>
              <a:rPr lang="en-US" b="1" dirty="0"/>
              <a:t>                                                             </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1" y="2299854"/>
            <a:ext cx="11259127" cy="4480559"/>
          </a:xfrm>
        </p:spPr>
        <p:txBody>
          <a:bodyPr>
            <a:normAutofit/>
          </a:bodyPr>
          <a:lstStyle/>
          <a:p>
            <a:pPr marL="0" indent="0">
              <a:lnSpc>
                <a:spcPct val="107000"/>
              </a:lnSpc>
              <a:spcAft>
                <a:spcPts val="800"/>
              </a:spcAft>
              <a:buNone/>
            </a:pPr>
            <a:r>
              <a:rPr lang="en-IN" kern="100" dirty="0">
                <a:latin typeface="Segoe UI" panose="020B0502040204020203" pitchFamily="34" charset="0"/>
                <a:ea typeface="Calibri" panose="020F0502020204030204" pitchFamily="34" charset="0"/>
                <a:cs typeface="Segoe UI" panose="020B0502040204020203" pitchFamily="34" charset="0"/>
              </a:rPr>
              <a:t>   </a:t>
            </a:r>
            <a:r>
              <a:rPr lang="en-IN" sz="1800" kern="100" dirty="0">
                <a:effectLst/>
                <a:latin typeface="Segoe UI" panose="020B0502040204020203" pitchFamily="34" charset="0"/>
                <a:ea typeface="Calibri" panose="020F0502020204030204" pitchFamily="34" charset="0"/>
                <a:cs typeface="Segoe UI" panose="020B0502040204020203" pitchFamily="34" charset="0"/>
              </a:rPr>
              <a:t>     </a:t>
            </a:r>
            <a:r>
              <a:rPr lang="en-IN" sz="1800" dirty="0">
                <a:effectLst/>
                <a:latin typeface="Segoe UI" panose="020B0502040204020203" pitchFamily="34" charset="0"/>
                <a:ea typeface="Calibri" panose="020F0502020204030204" pitchFamily="34" charset="0"/>
                <a:cs typeface="Segoe UI" panose="020B0502040204020203" pitchFamily="34" charset="0"/>
              </a:rPr>
              <a:t>Using the RFM segmentation output, customers labelled ‘At Risk’ and ‘Lost’ were extracted</a:t>
            </a:r>
          </a:p>
          <a:p>
            <a:pPr marL="0" indent="0">
              <a:lnSpc>
                <a:spcPct val="107000"/>
              </a:lnSpc>
              <a:spcAft>
                <a:spcPts val="800"/>
              </a:spcAft>
              <a:buNone/>
            </a:pPr>
            <a:endParaRPr lang="en-IN" sz="1800" kern="100" dirty="0">
              <a:effectLst/>
              <a:latin typeface="Segoe UI" panose="020B0502040204020203" pitchFamily="34" charset="0"/>
              <a:ea typeface="Calibri" panose="020F0502020204030204" pitchFamily="34" charset="0"/>
              <a:cs typeface="Segoe UI" panose="020B0502040204020203" pitchFamily="34" charset="0"/>
            </a:endParaRPr>
          </a:p>
          <a:p>
            <a:pPr marL="0" lvl="0" indent="0">
              <a:lnSpc>
                <a:spcPct val="107000"/>
              </a:lnSpc>
              <a:spcAft>
                <a:spcPts val="800"/>
              </a:spcAft>
              <a:buNone/>
            </a:pPr>
            <a:endParaRPr lang="en-IN" sz="1800" dirty="0">
              <a:latin typeface="Segoe UI" panose="020B0502040204020203" pitchFamily="34" charset="0"/>
              <a:cs typeface="Segoe UI" panose="020B0502040204020203" pitchFamily="34" charset="0"/>
            </a:endParaRPr>
          </a:p>
        </p:txBody>
      </p:sp>
      <p:pic>
        <p:nvPicPr>
          <p:cNvPr id="5" name="Picture 4">
            <a:extLst>
              <a:ext uri="{FF2B5EF4-FFF2-40B4-BE49-F238E27FC236}">
                <a16:creationId xmlns:a16="http://schemas.microsoft.com/office/drawing/2014/main" id="{A4B43E99-28AB-DE5C-6A94-ADA4189556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5880" y="2777028"/>
            <a:ext cx="8333683" cy="3853180"/>
          </a:xfrm>
          <a:prstGeom prst="rect">
            <a:avLst/>
          </a:prstGeom>
        </p:spPr>
      </p:pic>
    </p:spTree>
    <p:extLst>
      <p:ext uri="{BB962C8B-B14F-4D97-AF65-F5344CB8AC3E}">
        <p14:creationId xmlns:p14="http://schemas.microsoft.com/office/powerpoint/2010/main" val="39737087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rmAutofit fontScale="90000"/>
          </a:bodyPr>
          <a:lstStyle/>
          <a:p>
            <a:pPr algn="ctr"/>
            <a:r>
              <a:rPr lang="en-US" b="1" dirty="0"/>
              <a:t>Machine Learning Model</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526473" y="2603500"/>
            <a:ext cx="11185235" cy="3416300"/>
          </a:xfrm>
        </p:spPr>
        <p:txBody>
          <a:bodyPr>
            <a:normAutofit/>
          </a:bodyPr>
          <a:lstStyle/>
          <a:p>
            <a:pPr>
              <a:buFont typeface="Arial" panose="020B0604020202020204" pitchFamily="34" charset="0"/>
              <a:buChar char="•"/>
            </a:pPr>
            <a:r>
              <a:rPr lang="en-US" sz="1800" b="1" dirty="0">
                <a:latin typeface="Segoe UI" panose="020B0502040204020203" pitchFamily="34" charset="0"/>
                <a:cs typeface="Segoe UI" panose="020B0502040204020203" pitchFamily="34" charset="0"/>
              </a:rPr>
              <a:t>Algorithm:</a:t>
            </a:r>
            <a:r>
              <a:rPr lang="en-US" sz="1800" dirty="0">
                <a:latin typeface="Segoe UI" panose="020B0502040204020203" pitchFamily="34" charset="0"/>
                <a:cs typeface="Segoe UI" panose="020B0502040204020203" pitchFamily="34" charset="0"/>
              </a:rPr>
              <a:t> Random Forest</a:t>
            </a:r>
          </a:p>
          <a:p>
            <a:pPr>
              <a:buFont typeface="Arial" panose="020B0604020202020204" pitchFamily="34" charset="0"/>
              <a:buChar char="•"/>
            </a:pPr>
            <a:r>
              <a:rPr lang="en-US" sz="1800" b="1" dirty="0">
                <a:latin typeface="Segoe UI" panose="020B0502040204020203" pitchFamily="34" charset="0"/>
                <a:cs typeface="Segoe UI" panose="020B0502040204020203" pitchFamily="34" charset="0"/>
              </a:rPr>
              <a:t>Features:</a:t>
            </a:r>
            <a:r>
              <a:rPr lang="en-US" sz="1800" dirty="0">
                <a:latin typeface="Segoe UI" panose="020B0502040204020203" pitchFamily="34" charset="0"/>
                <a:cs typeface="Segoe UI" panose="020B0502040204020203" pitchFamily="34" charset="0"/>
              </a:rPr>
              <a:t> Recency, Frequency, Monetary</a:t>
            </a:r>
          </a:p>
          <a:p>
            <a:pPr>
              <a:buFont typeface="Arial" panose="020B0604020202020204" pitchFamily="34" charset="0"/>
              <a:buChar char="•"/>
            </a:pPr>
            <a:r>
              <a:rPr lang="en-US" sz="1800" b="1" dirty="0">
                <a:latin typeface="Segoe UI" panose="020B0502040204020203" pitchFamily="34" charset="0"/>
                <a:cs typeface="Segoe UI" panose="020B0502040204020203" pitchFamily="34" charset="0"/>
              </a:rPr>
              <a:t>Accuracy:</a:t>
            </a:r>
            <a:r>
              <a:rPr lang="en-US" sz="1800" dirty="0">
                <a:latin typeface="Segoe UI" panose="020B0502040204020203" pitchFamily="34" charset="0"/>
                <a:cs typeface="Segoe UI" panose="020B0502040204020203" pitchFamily="34" charset="0"/>
              </a:rPr>
              <a:t> 0.97</a:t>
            </a:r>
          </a:p>
          <a:p>
            <a:pPr>
              <a:buFont typeface="Arial" panose="020B0604020202020204" pitchFamily="34" charset="0"/>
              <a:buChar char="•"/>
            </a:pPr>
            <a:r>
              <a:rPr lang="en-US" sz="1800" b="1" dirty="0">
                <a:latin typeface="Segoe UI" panose="020B0502040204020203" pitchFamily="34" charset="0"/>
                <a:cs typeface="Segoe UI" panose="020B0502040204020203" pitchFamily="34" charset="0"/>
              </a:rPr>
              <a:t>AUC:</a:t>
            </a:r>
            <a:r>
              <a:rPr lang="en-US" sz="1800" dirty="0">
                <a:latin typeface="Segoe UI" panose="020B0502040204020203" pitchFamily="34" charset="0"/>
                <a:cs typeface="Segoe UI" panose="020B0502040204020203" pitchFamily="34" charset="0"/>
              </a:rPr>
              <a:t> 0.996</a:t>
            </a:r>
          </a:p>
          <a:p>
            <a:pPr>
              <a:buFont typeface="Arial" panose="020B0604020202020204" pitchFamily="34" charset="0"/>
              <a:buChar char="•"/>
            </a:pPr>
            <a:r>
              <a:rPr lang="en-US" sz="1800" b="1" dirty="0">
                <a:latin typeface="Segoe UI" panose="020B0502040204020203" pitchFamily="34" charset="0"/>
                <a:cs typeface="Segoe UI" panose="020B0502040204020203" pitchFamily="34" charset="0"/>
              </a:rPr>
              <a:t>Top Churn Driver:</a:t>
            </a:r>
            <a:r>
              <a:rPr lang="en-US" sz="1800" dirty="0">
                <a:latin typeface="Segoe UI" panose="020B0502040204020203" pitchFamily="34" charset="0"/>
                <a:cs typeface="Segoe UI" panose="020B0502040204020203" pitchFamily="34" charset="0"/>
              </a:rPr>
              <a:t> Frequency</a:t>
            </a:r>
          </a:p>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6422548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a:xfrm>
            <a:off x="397164" y="628073"/>
            <a:ext cx="11176000" cy="1246910"/>
          </a:xfrm>
        </p:spPr>
        <p:txBody>
          <a:bodyPr>
            <a:normAutofit fontScale="90000"/>
          </a:bodyPr>
          <a:lstStyle/>
          <a:p>
            <a:pPr algn="ctr"/>
            <a:br>
              <a:rPr lang="en-US" b="1" dirty="0"/>
            </a:br>
            <a:r>
              <a:rPr lang="en-US" b="1" dirty="0">
                <a:latin typeface="Segoe UI" panose="020B0502040204020203" pitchFamily="34" charset="0"/>
                <a:cs typeface="Segoe UI" panose="020B0502040204020203" pitchFamily="34" charset="0"/>
              </a:rPr>
              <a:t>Power BI Dashboard</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397164" y="2373745"/>
            <a:ext cx="11462327" cy="4331855"/>
          </a:xfrm>
        </p:spPr>
        <p:txBody>
          <a:bodyPr>
            <a:normAutofit/>
          </a:bodyPr>
          <a:lstStyle/>
          <a:p>
            <a:pPr marL="0" indent="0" algn="ctr">
              <a:buNone/>
            </a:pPr>
            <a:r>
              <a:rPr lang="en-IN" sz="1800" dirty="0">
                <a:effectLst/>
                <a:latin typeface="Segoe UI" panose="020B0502040204020203" pitchFamily="34" charset="0"/>
                <a:ea typeface="Calibri" panose="020F0502020204030204" pitchFamily="34" charset="0"/>
                <a:cs typeface="Segoe UI" panose="020B0502040204020203" pitchFamily="34" charset="0"/>
              </a:rPr>
              <a:t>Customer &amp; Revenue Overview</a:t>
            </a:r>
          </a:p>
          <a:p>
            <a:pPr marL="0" indent="0" algn="ctr">
              <a:buNone/>
            </a:pPr>
            <a:endParaRPr lang="en-IN" sz="1800" dirty="0">
              <a:latin typeface="Segoe UI" panose="020B0502040204020203" pitchFamily="34" charset="0"/>
              <a:cs typeface="Segoe UI" panose="020B0502040204020203" pitchFamily="34" charset="0"/>
            </a:endParaRPr>
          </a:p>
        </p:txBody>
      </p:sp>
      <p:pic>
        <p:nvPicPr>
          <p:cNvPr id="4" name="Picture 3">
            <a:extLst>
              <a:ext uri="{FF2B5EF4-FFF2-40B4-BE49-F238E27FC236}">
                <a16:creationId xmlns:a16="http://schemas.microsoft.com/office/drawing/2014/main" id="{1B6295EC-08FD-C3CC-27E2-995762307B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51708" y="2817091"/>
            <a:ext cx="8968509" cy="3814618"/>
          </a:xfrm>
          <a:prstGeom prst="rect">
            <a:avLst/>
          </a:prstGeom>
        </p:spPr>
      </p:pic>
    </p:spTree>
    <p:extLst>
      <p:ext uri="{BB962C8B-B14F-4D97-AF65-F5344CB8AC3E}">
        <p14:creationId xmlns:p14="http://schemas.microsoft.com/office/powerpoint/2010/main" val="167591085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a:xfrm>
            <a:off x="397164" y="628073"/>
            <a:ext cx="11176000" cy="1246910"/>
          </a:xfrm>
        </p:spPr>
        <p:txBody>
          <a:bodyPr>
            <a:normAutofit fontScale="90000"/>
          </a:bodyPr>
          <a:lstStyle/>
          <a:p>
            <a:pPr algn="ctr"/>
            <a:br>
              <a:rPr lang="en-US" b="1" dirty="0"/>
            </a:br>
            <a:r>
              <a:rPr lang="en-US" b="1" dirty="0">
                <a:latin typeface="Segoe UI" panose="020B0502040204020203" pitchFamily="34" charset="0"/>
                <a:cs typeface="Segoe UI" panose="020B0502040204020203" pitchFamily="34" charset="0"/>
              </a:rPr>
              <a:t>Power BI Dashboard</a:t>
            </a:r>
            <a:br>
              <a:rPr lang="en-US" b="1" dirty="0"/>
            </a:br>
            <a:endParaRPr lang="en-IN" dirty="0"/>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397164" y="2373745"/>
            <a:ext cx="11462327" cy="4331855"/>
          </a:xfrm>
        </p:spPr>
        <p:txBody>
          <a:bodyPr>
            <a:normAutofit/>
          </a:bodyPr>
          <a:lstStyle/>
          <a:p>
            <a:pPr marL="0" indent="0" algn="ctr">
              <a:buNone/>
            </a:pPr>
            <a:r>
              <a:rPr lang="en-IN" sz="1800" dirty="0">
                <a:effectLst/>
                <a:latin typeface="Segoe UI" panose="020B0502040204020203" pitchFamily="34" charset="0"/>
                <a:ea typeface="Calibri" panose="020F0502020204030204" pitchFamily="34" charset="0"/>
                <a:cs typeface="Segoe UI" panose="020B0502040204020203" pitchFamily="34" charset="0"/>
              </a:rPr>
              <a:t>Predictive Insights &amp; Retention Action</a:t>
            </a:r>
          </a:p>
          <a:p>
            <a:pPr marL="0" indent="0" algn="ctr">
              <a:buNone/>
            </a:pPr>
            <a:endParaRPr lang="en-IN" sz="1800" dirty="0">
              <a:latin typeface="Segoe UI" panose="020B0502040204020203" pitchFamily="34" charset="0"/>
              <a:cs typeface="Segoe UI" panose="020B0502040204020203" pitchFamily="34" charset="0"/>
            </a:endParaRPr>
          </a:p>
        </p:txBody>
      </p:sp>
      <p:pic>
        <p:nvPicPr>
          <p:cNvPr id="5" name="Picture 4" descr="A screenshot of a computer&#10;&#10;AI-generated content may be incorrect.">
            <a:extLst>
              <a:ext uri="{FF2B5EF4-FFF2-40B4-BE49-F238E27FC236}">
                <a16:creationId xmlns:a16="http://schemas.microsoft.com/office/drawing/2014/main" id="{63258FE4-748C-B24D-E586-298D2565B13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560945" y="2852130"/>
            <a:ext cx="9070110" cy="3779578"/>
          </a:xfrm>
          <a:prstGeom prst="rect">
            <a:avLst/>
          </a:prstGeom>
        </p:spPr>
      </p:pic>
    </p:spTree>
    <p:extLst>
      <p:ext uri="{BB962C8B-B14F-4D97-AF65-F5344CB8AC3E}">
        <p14:creationId xmlns:p14="http://schemas.microsoft.com/office/powerpoint/2010/main" val="39727126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1F2E53-29C4-6460-44AF-4F1B3913BBDB}"/>
              </a:ext>
            </a:extLst>
          </p:cNvPr>
          <p:cNvSpPr>
            <a:spLocks noGrp="1"/>
          </p:cNvSpPr>
          <p:nvPr>
            <p:ph type="title"/>
          </p:nvPr>
        </p:nvSpPr>
        <p:spPr/>
        <p:txBody>
          <a:bodyPr>
            <a:noAutofit/>
          </a:bodyPr>
          <a:lstStyle/>
          <a:p>
            <a:pPr algn="ctr"/>
            <a:r>
              <a:rPr lang="en-IN" sz="3200" dirty="0">
                <a:effectLst/>
                <a:latin typeface="Segoe UI" panose="020B0502040204020203" pitchFamily="34" charset="0"/>
                <a:ea typeface="Calibri" panose="020F0502020204030204" pitchFamily="34" charset="0"/>
                <a:cs typeface="Segoe UI" panose="020B0502040204020203" pitchFamily="34" charset="0"/>
              </a:rPr>
              <a:t>Business Insights &amp; Findings</a:t>
            </a:r>
            <a:br>
              <a:rPr lang="en-US" sz="3200" b="1" dirty="0">
                <a:latin typeface="Segoe UI" panose="020B0502040204020203" pitchFamily="34" charset="0"/>
                <a:cs typeface="Segoe UI" panose="020B0502040204020203" pitchFamily="34" charset="0"/>
              </a:rPr>
            </a:br>
            <a:endParaRPr lang="en-IN" sz="3200"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1A49529C-0C0D-5E3E-AA33-4EA89E766533}"/>
              </a:ext>
            </a:extLst>
          </p:cNvPr>
          <p:cNvSpPr>
            <a:spLocks noGrp="1"/>
          </p:cNvSpPr>
          <p:nvPr>
            <p:ph idx="1"/>
          </p:nvPr>
        </p:nvSpPr>
        <p:spPr>
          <a:xfrm>
            <a:off x="480292" y="2603500"/>
            <a:ext cx="11212944" cy="4009736"/>
          </a:xfrm>
        </p:spPr>
        <p:txBody>
          <a:bodyPr>
            <a:noAutofit/>
          </a:bodyPr>
          <a:lstStyle/>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Loyal customers drive the business</a:t>
            </a:r>
          </a:p>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Revenue is heavily dependent on “Lost” customers</a:t>
            </a:r>
          </a:p>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Churn risk is high (35.7%)</a:t>
            </a:r>
          </a:p>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Frequency is the strongest driver of churn</a:t>
            </a:r>
          </a:p>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Revenue at risk is extremely high (₹6.98M)</a:t>
            </a:r>
          </a:p>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Cohort retention drops sharply after Month 1</a:t>
            </a:r>
          </a:p>
          <a:p>
            <a:pPr>
              <a:spcAft>
                <a:spcPts val="800"/>
              </a:spcAft>
              <a:buFont typeface="+mj-lt"/>
              <a:buAutoNum type="arabicPeriod"/>
            </a:pPr>
            <a:r>
              <a:rPr lang="en-IN" kern="100" dirty="0">
                <a:effectLst/>
                <a:latin typeface="Segoe UI" panose="020B0502040204020203" pitchFamily="34" charset="0"/>
                <a:ea typeface="Calibri" panose="020F0502020204030204" pitchFamily="34" charset="0"/>
                <a:cs typeface="Segoe UI" panose="020B0502040204020203" pitchFamily="34" charset="0"/>
              </a:rPr>
              <a:t>Late-year revenue spikes (December)</a:t>
            </a:r>
          </a:p>
          <a:p>
            <a:endParaRPr lang="en-IN"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02088451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F8EC68-C039-4238-A19A-A69084FC919B}"/>
              </a:ext>
            </a:extLst>
          </p:cNvPr>
          <p:cNvSpPr>
            <a:spLocks noGrp="1"/>
          </p:cNvSpPr>
          <p:nvPr>
            <p:ph type="title"/>
          </p:nvPr>
        </p:nvSpPr>
        <p:spPr>
          <a:xfrm>
            <a:off x="554182" y="591127"/>
            <a:ext cx="10917382" cy="1496291"/>
          </a:xfrm>
        </p:spPr>
        <p:txBody>
          <a:bodyPr>
            <a:normAutofit/>
          </a:bodyPr>
          <a:lstStyle/>
          <a:p>
            <a:pPr algn="ctr"/>
            <a:r>
              <a:rPr lang="en-US" sz="3200" b="1" dirty="0">
                <a:latin typeface="Segoe UI" panose="020B0502040204020203" pitchFamily="34" charset="0"/>
                <a:cs typeface="Segoe UI" panose="020B0502040204020203" pitchFamily="34" charset="0"/>
              </a:rPr>
              <a:t>Business Recommendations</a:t>
            </a:r>
            <a:br>
              <a:rPr lang="en-US" sz="3200" b="1" dirty="0">
                <a:latin typeface="Segoe UI" panose="020B0502040204020203" pitchFamily="34" charset="0"/>
                <a:cs typeface="Segoe UI" panose="020B0502040204020203" pitchFamily="34" charset="0"/>
              </a:rPr>
            </a:br>
            <a:endParaRPr lang="en-IN" sz="3200" dirty="0">
              <a:latin typeface="Segoe UI" panose="020B0502040204020203" pitchFamily="34" charset="0"/>
              <a:cs typeface="Segoe UI" panose="020B0502040204020203" pitchFamily="34" charset="0"/>
            </a:endParaRPr>
          </a:p>
        </p:txBody>
      </p:sp>
      <p:sp>
        <p:nvSpPr>
          <p:cNvPr id="3" name="Content Placeholder 2">
            <a:extLst>
              <a:ext uri="{FF2B5EF4-FFF2-40B4-BE49-F238E27FC236}">
                <a16:creationId xmlns:a16="http://schemas.microsoft.com/office/drawing/2014/main" id="{8D3C36A0-144B-3AC5-05A5-93FC68C69457}"/>
              </a:ext>
            </a:extLst>
          </p:cNvPr>
          <p:cNvSpPr>
            <a:spLocks noGrp="1"/>
          </p:cNvSpPr>
          <p:nvPr>
            <p:ph idx="1"/>
          </p:nvPr>
        </p:nvSpPr>
        <p:spPr>
          <a:xfrm>
            <a:off x="461818" y="2603499"/>
            <a:ext cx="11286837" cy="3963555"/>
          </a:xfrm>
        </p:spPr>
        <p:txBody>
          <a:bodyPr>
            <a:normAutofit/>
          </a:bodyPr>
          <a:lstStyle/>
          <a:p>
            <a:pPr>
              <a:buFont typeface="+mj-lt"/>
              <a:buAutoNum type="arabicPeriod"/>
            </a:pPr>
            <a:r>
              <a:rPr lang="en-US" sz="1800" b="1" dirty="0">
                <a:latin typeface="Segoe UI" panose="020B0502040204020203" pitchFamily="34" charset="0"/>
                <a:cs typeface="Segoe UI" panose="020B0502040204020203" pitchFamily="34" charset="0"/>
              </a:rPr>
              <a:t>Recover Lost Revenue</a:t>
            </a:r>
            <a:r>
              <a:rPr lang="en-US" sz="1800" dirty="0">
                <a:latin typeface="Segoe UI" panose="020B0502040204020203" pitchFamily="34" charset="0"/>
                <a:cs typeface="Segoe UI" panose="020B0502040204020203" pitchFamily="34" charset="0"/>
              </a:rPr>
              <a:t> — target win-back campaigns</a:t>
            </a:r>
          </a:p>
          <a:p>
            <a:pPr>
              <a:buFont typeface="+mj-lt"/>
              <a:buAutoNum type="arabicPeriod"/>
            </a:pPr>
            <a:r>
              <a:rPr lang="en-US" sz="1800" b="1" dirty="0">
                <a:latin typeface="Segoe UI" panose="020B0502040204020203" pitchFamily="34" charset="0"/>
                <a:cs typeface="Segoe UI" panose="020B0502040204020203" pitchFamily="34" charset="0"/>
              </a:rPr>
              <a:t>Improve Early Retention</a:t>
            </a:r>
            <a:r>
              <a:rPr lang="en-US" sz="1800" dirty="0">
                <a:latin typeface="Segoe UI" panose="020B0502040204020203" pitchFamily="34" charset="0"/>
                <a:cs typeface="Segoe UI" panose="020B0502040204020203" pitchFamily="34" charset="0"/>
              </a:rPr>
              <a:t> — strengthen first-month engagement</a:t>
            </a:r>
          </a:p>
          <a:p>
            <a:pPr>
              <a:buFont typeface="+mj-lt"/>
              <a:buAutoNum type="arabicPeriod"/>
            </a:pPr>
            <a:r>
              <a:rPr lang="en-US" sz="1800" b="1" dirty="0">
                <a:latin typeface="Segoe UI" panose="020B0502040204020203" pitchFamily="34" charset="0"/>
                <a:cs typeface="Segoe UI" panose="020B0502040204020203" pitchFamily="34" charset="0"/>
              </a:rPr>
              <a:t>Boost Purchase Frequency</a:t>
            </a:r>
            <a:r>
              <a:rPr lang="en-US" sz="1800" dirty="0">
                <a:latin typeface="Segoe UI" panose="020B0502040204020203" pitchFamily="34" charset="0"/>
                <a:cs typeface="Segoe UI" panose="020B0502040204020203" pitchFamily="34" charset="0"/>
              </a:rPr>
              <a:t> — offer purchase-linked rewards</a:t>
            </a:r>
          </a:p>
          <a:p>
            <a:pPr>
              <a:buFont typeface="+mj-lt"/>
              <a:buAutoNum type="arabicPeriod"/>
            </a:pPr>
            <a:r>
              <a:rPr lang="en-US" sz="1800" b="1" dirty="0">
                <a:latin typeface="Segoe UI" panose="020B0502040204020203" pitchFamily="34" charset="0"/>
                <a:cs typeface="Segoe UI" panose="020B0502040204020203" pitchFamily="34" charset="0"/>
              </a:rPr>
              <a:t>Strengthen Loyalty Base</a:t>
            </a:r>
            <a:r>
              <a:rPr lang="en-US" sz="1800" dirty="0">
                <a:latin typeface="Segoe UI" panose="020B0502040204020203" pitchFamily="34" charset="0"/>
                <a:cs typeface="Segoe UI" panose="020B0502040204020203" pitchFamily="34" charset="0"/>
              </a:rPr>
              <a:t> — exclusive perks for Loyal segment</a:t>
            </a:r>
          </a:p>
          <a:p>
            <a:pPr>
              <a:buFont typeface="+mj-lt"/>
              <a:buAutoNum type="arabicPeriod"/>
            </a:pPr>
            <a:r>
              <a:rPr lang="en-US" sz="1800" b="1" dirty="0">
                <a:latin typeface="Segoe UI" panose="020B0502040204020203" pitchFamily="34" charset="0"/>
                <a:cs typeface="Segoe UI" panose="020B0502040204020203" pitchFamily="34" charset="0"/>
              </a:rPr>
              <a:t>Upsell Active Customers</a:t>
            </a:r>
            <a:r>
              <a:rPr lang="en-US" sz="1800" dirty="0">
                <a:latin typeface="Segoe UI" panose="020B0502040204020203" pitchFamily="34" charset="0"/>
                <a:cs typeface="Segoe UI" panose="020B0502040204020203" pitchFamily="34" charset="0"/>
              </a:rPr>
              <a:t> — promote bundles &amp; premium products</a:t>
            </a:r>
          </a:p>
          <a:p>
            <a:endParaRPr lang="en-IN"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9138107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descr="A close-up of a thank you sign">
            <a:extLst>
              <a:ext uri="{FF2B5EF4-FFF2-40B4-BE49-F238E27FC236}">
                <a16:creationId xmlns:a16="http://schemas.microsoft.com/office/drawing/2014/main" id="{2D29FF30-E779-2783-45FD-D19E5D3262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03055" y="2041236"/>
            <a:ext cx="6853382" cy="2743200"/>
          </a:xfrm>
          <a:prstGeom prst="rect">
            <a:avLst/>
          </a:prstGeom>
        </p:spPr>
      </p:pic>
      <p:sp>
        <p:nvSpPr>
          <p:cNvPr id="4" name="Footer Placeholder 3">
            <a:extLst>
              <a:ext uri="{FF2B5EF4-FFF2-40B4-BE49-F238E27FC236}">
                <a16:creationId xmlns:a16="http://schemas.microsoft.com/office/drawing/2014/main" id="{223675FB-55AB-38C6-B86A-5D4C1EDC7EB3}"/>
              </a:ext>
            </a:extLst>
          </p:cNvPr>
          <p:cNvSpPr>
            <a:spLocks noGrp="1"/>
          </p:cNvSpPr>
          <p:nvPr>
            <p:ph type="ftr" sz="quarter" idx="11"/>
          </p:nvPr>
        </p:nvSpPr>
        <p:spPr>
          <a:xfrm>
            <a:off x="8534400" y="6169892"/>
            <a:ext cx="3435926" cy="526748"/>
          </a:xfrm>
        </p:spPr>
        <p:txBody>
          <a:bodyPr/>
          <a:lstStyle/>
          <a:p>
            <a:r>
              <a:rPr lang="en-US" sz="1400" dirty="0">
                <a:solidFill>
                  <a:schemeClr val="tx1"/>
                </a:solidFill>
                <a:latin typeface="Segoe UI" panose="020B0502040204020203" pitchFamily="34" charset="0"/>
                <a:cs typeface="Segoe UI" panose="020B0502040204020203" pitchFamily="34" charset="0"/>
              </a:rPr>
              <a:t>Prepared by: Majji Prasanth Reddy</a:t>
            </a:r>
            <a:endParaRPr lang="en-IN" sz="1400" dirty="0">
              <a:solidFill>
                <a:schemeClr val="tx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1448466871"/>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Boardroom">
  <a:themeElements>
    <a:clrScheme name="Ion Boardroom">
      <a:dk1>
        <a:sysClr val="windowText" lastClr="000000"/>
      </a:dk1>
      <a:lt1>
        <a:sysClr val="window" lastClr="FFFFFF"/>
      </a:lt1>
      <a:dk2>
        <a:srgbClr val="3B3059"/>
      </a:dk2>
      <a:lt2>
        <a:srgbClr val="EBEBEB"/>
      </a:lt2>
      <a:accent1>
        <a:srgbClr val="B31166"/>
      </a:accent1>
      <a:accent2>
        <a:srgbClr val="E33D6F"/>
      </a:accent2>
      <a:accent3>
        <a:srgbClr val="E45F3C"/>
      </a:accent3>
      <a:accent4>
        <a:srgbClr val="E9943A"/>
      </a:accent4>
      <a:accent5>
        <a:srgbClr val="9B6BF2"/>
      </a:accent5>
      <a:accent6>
        <a:srgbClr val="D53DD0"/>
      </a:accent6>
      <a:hlink>
        <a:srgbClr val="8F8F8F"/>
      </a:hlink>
      <a:folHlink>
        <a:srgbClr val="A5A5A5"/>
      </a:folHlink>
    </a:clrScheme>
    <a:fontScheme name="Ion Boardroom">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Boardroom">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8000"/>
                <a:hueMod val="124000"/>
                <a:satMod val="148000"/>
                <a:lumMod val="124000"/>
              </a:schemeClr>
            </a:gs>
            <a:gs pos="100000">
              <a:schemeClr val="phClr">
                <a:shade val="76000"/>
                <a:hueMod val="89000"/>
                <a:satMod val="164000"/>
                <a:lumMod val="56000"/>
              </a:schemeClr>
            </a:gs>
          </a:gsLst>
          <a:path path="circle">
            <a:fillToRect l="45000" t="65000" r="125000" b="100000"/>
          </a:path>
        </a:gradFill>
        <a:blipFill rotWithShape="1">
          <a:blip xmlns:r="http://schemas.openxmlformats.org/officeDocument/2006/relationships" r:embed="rId1">
            <a:duotone>
              <a:schemeClr val="phClr">
                <a:shade val="69000"/>
                <a:hueMod val="91000"/>
                <a:satMod val="164000"/>
                <a:lumMod val="74000"/>
              </a:schemeClr>
              <a:schemeClr val="phClr">
                <a:hueMod val="124000"/>
                <a:satMod val="140000"/>
                <a:lumMod val="142000"/>
              </a:schemeClr>
            </a:duotone>
          </a:blip>
          <a:stretch/>
        </a:blipFill>
      </a:bgFillStyleLst>
    </a:fmtScheme>
  </a:themeElements>
  <a:objectDefaults/>
  <a:extraClrSchemeLst/>
  <a:extLst>
    <a:ext uri="{05A4C25C-085E-4340-85A3-A5531E510DB2}">
      <thm15:themeFamily xmlns:thm15="http://schemas.microsoft.com/office/thememl/2012/main" name="Ion Boardroom" id="{FC33163D-4339-46B1-8EED-24C834239D99}" vid="{B8502691-933B-45FE-8764-BA278511E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Ion Boardroom</Template>
  <TotalTime>143</TotalTime>
  <Words>535</Words>
  <Application>Microsoft Office PowerPoint</Application>
  <PresentationFormat>Widescreen</PresentationFormat>
  <Paragraphs>61</Paragraphs>
  <Slides>19</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19</vt:i4>
      </vt:variant>
    </vt:vector>
  </HeadingPairs>
  <TitlesOfParts>
    <vt:vector size="26" baseType="lpstr">
      <vt:lpstr>Aptos</vt:lpstr>
      <vt:lpstr>Arial</vt:lpstr>
      <vt:lpstr>Calibri</vt:lpstr>
      <vt:lpstr>Century Gothic</vt:lpstr>
      <vt:lpstr>Segoe UI</vt:lpstr>
      <vt:lpstr>Wingdings 3</vt:lpstr>
      <vt:lpstr>Ion Boardroom</vt:lpstr>
      <vt:lpstr>      Customer Churn &amp; Retention Analysis    End-to-End Data Analytics Using Python, SQL &amp; Power BI </vt:lpstr>
      <vt:lpstr>Problem Statement </vt:lpstr>
      <vt:lpstr>Dataset Overview </vt:lpstr>
      <vt:lpstr>Project Workflow </vt:lpstr>
      <vt:lpstr>Data Cleaning &amp; Processing </vt:lpstr>
      <vt:lpstr>Data Analysis using SQL </vt:lpstr>
      <vt:lpstr>Data Analysis using SQL </vt:lpstr>
      <vt:lpstr>Data Analysis using SQL </vt:lpstr>
      <vt:lpstr>RFM Segmentation  </vt:lpstr>
      <vt:lpstr>   Cohort Analysis                                                                </vt:lpstr>
      <vt:lpstr>   Cohort Analysis                                                                </vt:lpstr>
      <vt:lpstr>   Cohort Analysis                                                                </vt:lpstr>
      <vt:lpstr>   At-Risk &amp; Lost Customers                                                               </vt:lpstr>
      <vt:lpstr>Machine Learning Model </vt:lpstr>
      <vt:lpstr> Power BI Dashboard </vt:lpstr>
      <vt:lpstr> Power BI Dashboard </vt:lpstr>
      <vt:lpstr>Business Insights &amp; Findings </vt:lpstr>
      <vt:lpstr>Business Recommendations </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Majji Prasanth Reddy</dc:creator>
  <cp:lastModifiedBy>Majji Prasanth Reddy</cp:lastModifiedBy>
  <cp:revision>6</cp:revision>
  <dcterms:created xsi:type="dcterms:W3CDTF">2025-12-09T13:41:42Z</dcterms:created>
  <dcterms:modified xsi:type="dcterms:W3CDTF">2025-12-12T06:40:37Z</dcterms:modified>
</cp:coreProperties>
</file>